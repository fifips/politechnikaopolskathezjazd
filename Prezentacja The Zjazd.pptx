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4"/>
  </p:sldMasterIdLst>
  <p:notesMasterIdLst>
    <p:notesMasterId r:id="rId15"/>
  </p:notesMasterIdLst>
  <p:handoutMasterIdLst>
    <p:handoutMasterId r:id="rId16"/>
  </p:handoutMasterIdLst>
  <p:sldIdLst>
    <p:sldId id="1519" r:id="rId5"/>
    <p:sldId id="1520" r:id="rId6"/>
    <p:sldId id="1499" r:id="rId7"/>
    <p:sldId id="1515" r:id="rId8"/>
    <p:sldId id="1521" r:id="rId9"/>
    <p:sldId id="1524" r:id="rId10"/>
    <p:sldId id="1502" r:id="rId11"/>
    <p:sldId id="1517" r:id="rId12"/>
    <p:sldId id="1511" r:id="rId13"/>
    <p:sldId id="151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A4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143" dt="2026-10-09T19:57:48.786"/>
    <p1510:client id="{466AE8A5-FDE5-E5D0-6776-2632FD665025}" v="114" dt="2026-10-09T18:27:47.584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26" autoAdjust="0"/>
    <p:restoredTop sz="94618"/>
  </p:normalViewPr>
  <p:slideViewPr>
    <p:cSldViewPr snapToGrid="0">
      <p:cViewPr>
        <p:scale>
          <a:sx n="100" d="100"/>
          <a:sy n="100" d="100"/>
        </p:scale>
        <p:origin x="-1190" y="-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490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5109526"/>
            <a:ext cx="10923936" cy="641279"/>
          </a:xfrm>
        </p:spPr>
        <p:txBody>
          <a:bodyPr anchor="b">
            <a:noAutofit/>
          </a:bodyPr>
          <a:lstStyle>
            <a:lvl1pPr algn="l">
              <a:defRPr sz="5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7" name="Subtitle 2">
            <a:extLst>
              <a:ext uri="{FF2B5EF4-FFF2-40B4-BE49-F238E27FC236}">
                <a16:creationId xmlns:a16="http://schemas.microsoft.com/office/drawing/2014/main" id="{CDE85611-F29A-5B31-8523-08B6A1185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5811724"/>
            <a:ext cx="10923936" cy="40929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 t="-40" b="-40"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700589" y="6212217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7524BB-F0A6-4140-A8AB-1C8A7E34AB03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09325" y="6221013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780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/>
          <a:p>
            <a:fld id="{7E574385-C0BA-734A-92FC-17834D8EB701}" type="datetime1">
              <a:rPr lang="en-US" smtClean="0"/>
              <a:t>10/9/2026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4096" y="1016954"/>
            <a:ext cx="4306487" cy="3345811"/>
          </a:xfrm>
        </p:spPr>
        <p:txBody>
          <a:bodyPr anchor="b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4095" y="4743765"/>
            <a:ext cx="4333869" cy="147923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 l="-32" r="-32"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4097" y="0"/>
            <a:ext cx="244791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5846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6C3E8657-ED4F-2349-80D5-3F1287888601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253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001715"/>
            <a:ext cx="4714880" cy="3360095"/>
          </a:xfrm>
        </p:spPr>
        <p:txBody>
          <a:bodyPr anchor="t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6"/>
            <a:ext cx="4714880" cy="14944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30" y="3586"/>
            <a:ext cx="315476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845379" y="3586"/>
            <a:ext cx="89831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AA7185-3F7E-9249-BB9E-706C38E229BC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00270" y="3586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84576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011936"/>
            <a:ext cx="7538425" cy="3172503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6000" u="sng" cap="all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7" y="4728525"/>
            <a:ext cx="7538425" cy="1494475"/>
          </a:xfrm>
        </p:spPr>
        <p:txBody>
          <a:bodyPr anchor="b">
            <a:norm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99A48728-1D9C-2F4B-9F0A-BC2AEDF455B4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079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1011936"/>
            <a:ext cx="8095016" cy="3335590"/>
          </a:xfrm>
        </p:spPr>
        <p:txBody>
          <a:bodyPr anchor="b">
            <a:normAutofit/>
          </a:bodyPr>
          <a:lstStyle>
            <a:lvl1pPr algn="l">
              <a:defRPr sz="60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4728526"/>
            <a:ext cx="8095015" cy="111753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FDA9-B56F-3D40-BA5C-830FD973E5D1}" type="datetime1">
              <a:rPr lang="en-US" smtClean="0"/>
              <a:t>10/9/2026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958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2" y="1011936"/>
            <a:ext cx="7924802" cy="3350830"/>
          </a:xfrm>
        </p:spPr>
        <p:txBody>
          <a:bodyPr anchor="b">
            <a:normAutofit/>
          </a:bodyPr>
          <a:lstStyle>
            <a:lvl1pPr algn="ctr">
              <a:defRPr sz="6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2" y="4728526"/>
            <a:ext cx="7924801" cy="111753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4B425-AD26-2748-9379-4D52F1178C82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856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20502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67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0505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2758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lcom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5652464" cy="2613336"/>
          </a:xfrm>
        </p:spPr>
        <p:txBody>
          <a:bodyPr anchor="b"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F2758A-C3D6-E84B-B3E9-757EFEF52D55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3996050"/>
            <a:ext cx="5652464" cy="22269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DEE8CE2C-7AFC-E265-19EB-F76884D599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3095" y="630936"/>
            <a:ext cx="4714870" cy="5592064"/>
          </a:xfrm>
          <a:blipFill dpi="0" rotWithShape="1">
            <a:blip r:embed="rId2">
              <a:alphaModFix amt="60000"/>
            </a:blip>
            <a:srcRect/>
            <a:stretch>
              <a:fillRect l="-40" r="-40"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77910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001715"/>
            <a:ext cx="4663440" cy="2241233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7112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EEECD8D-53A7-3A4F-8909-5ECB0FEF37FB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3623950"/>
            <a:ext cx="4663440" cy="253910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7243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2129475"/>
            <a:ext cx="4719430" cy="2599051"/>
          </a:xfrm>
        </p:spPr>
        <p:txBody>
          <a:bodyPr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07E3B5C-D099-9543-A57D-129299D311F4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3095" y="2129475"/>
            <a:ext cx="4158283" cy="2599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489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748474"/>
            <a:ext cx="4328498" cy="3726812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DDB5BF-28B0-5C4D-A64A-E611B8C77204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748473"/>
            <a:ext cx="6209053" cy="37268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917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381759"/>
            <a:ext cx="4347849" cy="4841241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82B860-5E2A-1340-A6D3-E276E55F2222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381759"/>
            <a:ext cx="6209054" cy="48412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1288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001715"/>
            <a:ext cx="4347850" cy="4855526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676C7A-4B29-7743-AB3A-5EEF28262A7C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001715"/>
            <a:ext cx="6209053" cy="485552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1574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2" y="1001715"/>
            <a:ext cx="3385529" cy="5221285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826AE1-158D-A74A-A5C8-25E57C484C69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5935" y="1001715"/>
            <a:ext cx="7152029" cy="522128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73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127760"/>
          </a:xfrm>
        </p:spPr>
        <p:txBody>
          <a:bodyPr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1EC562-4E50-D34B-8F39-5DD0D018EB66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2495234"/>
            <a:ext cx="10923935" cy="37277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3785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8481400" cy="1484254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EDD5DD5-92AA-6440-87DE-277C532BE8AC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9" y="2877190"/>
            <a:ext cx="8481400" cy="334581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>
                <a:solidFill>
                  <a:schemeClr val="tx1"/>
                </a:solidFill>
              </a:defRPr>
            </a:lvl1pPr>
            <a:lvl2pPr marL="6858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0827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911" y="1001714"/>
            <a:ext cx="6209053" cy="1122374"/>
          </a:xfrm>
        </p:spPr>
        <p:txBody>
          <a:bodyPr anchor="t"/>
          <a:lstStyle>
            <a:lvl1pPr>
              <a:defRPr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6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C78A78-9BD4-2540-9BAB-27AD9352B454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90490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8911" y="2496189"/>
            <a:ext cx="6209053" cy="37268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5385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209066" cy="11214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8134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59766" y="0"/>
            <a:ext cx="896113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5BCBD1-B884-5B4C-ACE8-81AA2A39E888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209066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62823" y="0"/>
            <a:ext cx="492917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87717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936" y="1001714"/>
            <a:ext cx="7152028" cy="1122374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1954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71664" y="0"/>
            <a:ext cx="280034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61CBF7-6530-194B-9FC2-12E7E7738880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2496189"/>
            <a:ext cx="7152028" cy="37268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9263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587506" cy="11125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595451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7705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FA5E271-D672-F147-B371-ABF5E56F00EC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69" y="0"/>
            <a:ext cx="548641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72454" y="0"/>
            <a:ext cx="401954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38457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9803"/>
            <a:ext cx="4714869" cy="1109672"/>
          </a:xfrm>
        </p:spPr>
        <p:txBody>
          <a:bodyPr anchor="t"/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0581" y="0"/>
            <a:ext cx="91440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79DE5A-E0D1-2647-9D82-FBDAE5DFB807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514279"/>
            <a:ext cx="4714869" cy="3708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300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4714881" cy="1108746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515204"/>
            <a:ext cx="4714881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30190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E69D102-A2FD-8743-85DB-14F8D0C32AC3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33333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1935"/>
            <a:ext cx="4714869" cy="1112153"/>
          </a:xfrm>
        </p:spPr>
        <p:txBody>
          <a:bodyPr anchor="b"/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3237" y="0"/>
            <a:ext cx="283687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87910" y="0"/>
            <a:ext cx="92708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9F1854-4AF0-ED49-AE83-182A816927B5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630936"/>
            <a:ext cx="5652469" cy="559206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61021" y="2496190"/>
            <a:ext cx="4696943" cy="37268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639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4714880" cy="1121417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8F57D1-DD5E-4E44-98C5-7D5639D55A57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69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2495233"/>
            <a:ext cx="4736136" cy="37277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38564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2921"/>
            <a:ext cx="3385510" cy="1117539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72454" y="0"/>
            <a:ext cx="173584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911643" y="0"/>
            <a:ext cx="700007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B83C81-A524-F840-ABC9-B6BB50E4A13C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3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2515204"/>
            <a:ext cx="3385510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765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3380187" cy="1108746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0837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23140" y="0"/>
            <a:ext cx="71629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BA8DA53-5E6D-4942-B673-3E50E3C9DB93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65575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491461"/>
            <a:ext cx="3380313" cy="373153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09990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4222"/>
            <a:ext cx="3385510" cy="1882967"/>
          </a:xfrm>
        </p:spPr>
        <p:txBody>
          <a:bodyPr anchor="b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2455" y="0"/>
            <a:ext cx="1735844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16244" y="0"/>
            <a:ext cx="695406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A35C60-A52E-0F44-95C1-79561B62B391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34" name="Slide Number Placeholder 9">
            <a:extLst>
              <a:ext uri="{FF2B5EF4-FFF2-40B4-BE49-F238E27FC236}">
                <a16:creationId xmlns:a16="http://schemas.microsoft.com/office/drawing/2014/main" id="{64F22B5B-7B07-4638-1ED2-E13EDE05C19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3251766"/>
            <a:ext cx="3385510" cy="297123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28600" indent="0"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 sz="1200">
                <a:solidFill>
                  <a:schemeClr val="tx1"/>
                </a:solidFill>
              </a:defRPr>
            </a:lvl3pPr>
            <a:lvl4pPr marL="685800" indent="0">
              <a:buNone/>
              <a:defRPr sz="1100">
                <a:solidFill>
                  <a:schemeClr val="tx1"/>
                </a:solidFill>
              </a:defRPr>
            </a:lvl4pPr>
            <a:lvl5pPr marL="914400" indent="0">
              <a:buNone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0674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5100628"/>
            <a:ext cx="4328498" cy="1122373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72852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100627"/>
            <a:ext cx="6208724" cy="112237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5E8027-836D-F64B-BBF7-A246E67FE0A3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4981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4353866"/>
            <a:ext cx="2828932" cy="1869134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4353866"/>
            <a:ext cx="7538412" cy="1869134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D38C6B-BFF0-FA48-8F70-77BDD72A014D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7202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27443"/>
            <a:ext cx="2828926" cy="1826790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634999"/>
            <a:ext cx="7538412" cy="1861191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2805405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0AF01B-D893-9C4D-8AB8-7E6079CED5E9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258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011936"/>
            <a:ext cx="10945318" cy="745437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4623E1-10D5-C048-8991-E2228A964ED1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129474"/>
            <a:ext cx="6230450" cy="40935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2129474"/>
            <a:ext cx="4333867" cy="41281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99039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5"/>
            <a:ext cx="4714881" cy="1121418"/>
          </a:xfrm>
        </p:spPr>
        <p:txBody>
          <a:bodyPr>
            <a:normAutofit/>
          </a:bodyPr>
          <a:lstStyle>
            <a:lvl1pPr>
              <a:defRPr sz="36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DB6E09-373C-2841-960E-B24A18A7C55D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8" y="2495234"/>
            <a:ext cx="4706938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86499" y="1001715"/>
            <a:ext cx="5292853" cy="52212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9153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96695"/>
            <a:ext cx="3771907" cy="1126438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CB72DF-080D-4042-863C-D2B08AB5E1E8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2495234"/>
            <a:ext cx="3717934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2" y="1005779"/>
            <a:ext cx="6615116" cy="53029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6185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6" y="4531056"/>
            <a:ext cx="6209067" cy="1691943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5D9B6A-47DB-D845-97C7-9775E46E650D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7" y="630937"/>
            <a:ext cx="6209067" cy="350433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9479" y="630937"/>
            <a:ext cx="4328485" cy="559206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508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15" y="5109526"/>
            <a:ext cx="6209079" cy="1113474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2" y="1011935"/>
            <a:ext cx="10923942" cy="3716591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56780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11347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5"/>
            <a:ext cx="10923935" cy="3716591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3748766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24555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10923935" cy="3665730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35409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47816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672661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95663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A2AD571-8A42-FC4D-8DD1-0DD76ABF057B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001715"/>
            <a:ext cx="8502777" cy="522128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 u="sng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800" b="1" u="sng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400" b="1" u="sng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4000" b="1" u="sng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600" b="1" u="sng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89875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007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F588B4-CB59-614E-93AB-9F331D0D8D83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764792"/>
            <a:ext cx="8481400" cy="44582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95408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8851A9-1959-C54C-A050-24BB5C598FE4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8481400" cy="521106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68504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32BBD40-9FB7-E148-AC1B-3919D230BEB1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74511" cy="521106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6000" b="1" i="0" u="sng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0430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7005" y="5475284"/>
            <a:ext cx="9037984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7B831F-0525-DF47-A6D2-509FE238C6D0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77004" y="1005779"/>
            <a:ext cx="9037985" cy="4103745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690378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9066" y="5475285"/>
            <a:ext cx="9045923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3EBDBC-CFAC-9946-A2F3-D6402690E4D2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9066" y="1001715"/>
            <a:ext cx="9053874" cy="4107810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633403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28" y="5475285"/>
            <a:ext cx="9074512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42C378-8FD2-C449-B7AA-6F7022066293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37985" cy="371659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8158825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640203"/>
            <a:ext cx="10923934" cy="1099006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47606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1001715"/>
            <a:ext cx="10923934" cy="747715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87229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4" y="1010613"/>
            <a:ext cx="10945189" cy="746759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7BE2A0-CBC1-A842-B334-0B3B571BCC28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129474"/>
            <a:ext cx="5271473" cy="40935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3941" y="2129475"/>
            <a:ext cx="5274021" cy="40935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37427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10614"/>
            <a:ext cx="10923934" cy="74676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4D687F-3261-A345-B9E7-76DD0579BB9D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8" y="2120575"/>
            <a:ext cx="5271474" cy="37561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3940" y="2120575"/>
            <a:ext cx="5274023" cy="37561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877190"/>
            <a:ext cx="5266092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877190"/>
            <a:ext cx="5271464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46233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10923935" cy="1865254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5C9DF99-DDC2-894B-B2EC-BE93B405C6CB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58173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E1AAE6-D11F-2F46-A437-EC693200CDD7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33077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996695"/>
            <a:ext cx="3763961" cy="1314426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95903C-EDC1-ED4F-958F-696903391605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8" y="2495234"/>
            <a:ext cx="3763961" cy="3727766"/>
          </a:xfrm>
        </p:spPr>
        <p:txBody>
          <a:bodyPr anchor="t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474" y="1005779"/>
            <a:ext cx="6604492" cy="5217221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5055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30936"/>
            <a:ext cx="3793283" cy="2246253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DC713B-25C9-B74A-9BBC-A695A5E98312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1" y="3242949"/>
            <a:ext cx="3763969" cy="3017826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2523" y="630937"/>
            <a:ext cx="6616830" cy="559206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264980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82085"/>
            <a:ext cx="7538425" cy="1895105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D5279E-0E3B-B54D-9B59-E121D9B3AFDB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8" y="3242949"/>
            <a:ext cx="10923935" cy="2980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2394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8481400" cy="1852292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9E747C-1B1C-1345-96BA-B9E64C23A7BC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3614097"/>
            <a:ext cx="8481400" cy="1861187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28600" indent="0"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buNone/>
              <a:defRPr sz="1800">
                <a:solidFill>
                  <a:schemeClr val="tx1"/>
                </a:solidFill>
              </a:defRPr>
            </a:lvl3pPr>
            <a:lvl4pPr marL="685800" indent="0">
              <a:buNone/>
              <a:defRPr sz="16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122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7731038" cy="3346766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9DA23C4-A9FB-DB4A-B7DD-A0A5161EF3E0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5109526"/>
            <a:ext cx="6595450" cy="1113474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6027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4944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08540" y="0"/>
            <a:ext cx="9144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fld id="{D90E5A07-4FDA-D34C-BE60-17876FEEBAA5}" type="datetime1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4029" y="0"/>
            <a:ext cx="36576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9324" y="0"/>
            <a:ext cx="54864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bg1"/>
                </a:solidFill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9" y="2877190"/>
            <a:ext cx="10923935" cy="3345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97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9" r:id="rId5"/>
    <p:sldLayoutId id="2147483780" r:id="rId6"/>
    <p:sldLayoutId id="2147483781" r:id="rId7"/>
    <p:sldLayoutId id="2147483782" r:id="rId8"/>
    <p:sldLayoutId id="2147483832" r:id="rId9"/>
    <p:sldLayoutId id="2147483783" r:id="rId10"/>
    <p:sldLayoutId id="214748383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  <p:sldLayoutId id="2147483791" r:id="rId19"/>
    <p:sldLayoutId id="2147483792" r:id="rId20"/>
    <p:sldLayoutId id="2147483793" r:id="rId21"/>
    <p:sldLayoutId id="2147483794" r:id="rId22"/>
    <p:sldLayoutId id="2147483795" r:id="rId23"/>
    <p:sldLayoutId id="2147483796" r:id="rId24"/>
    <p:sldLayoutId id="2147483797" r:id="rId25"/>
    <p:sldLayoutId id="2147483798" r:id="rId26"/>
    <p:sldLayoutId id="2147483799" r:id="rId27"/>
    <p:sldLayoutId id="2147483800" r:id="rId28"/>
    <p:sldLayoutId id="2147483801" r:id="rId29"/>
    <p:sldLayoutId id="2147483802" r:id="rId30"/>
    <p:sldLayoutId id="2147483803" r:id="rId31"/>
    <p:sldLayoutId id="2147483804" r:id="rId32"/>
    <p:sldLayoutId id="2147483805" r:id="rId33"/>
    <p:sldLayoutId id="2147483806" r:id="rId34"/>
    <p:sldLayoutId id="2147483807" r:id="rId35"/>
    <p:sldLayoutId id="2147483808" r:id="rId36"/>
    <p:sldLayoutId id="2147483809" r:id="rId37"/>
    <p:sldLayoutId id="2147483810" r:id="rId38"/>
    <p:sldLayoutId id="2147483811" r:id="rId39"/>
    <p:sldLayoutId id="2147483812" r:id="rId40"/>
    <p:sldLayoutId id="2147483813" r:id="rId41"/>
    <p:sldLayoutId id="2147483814" r:id="rId42"/>
    <p:sldLayoutId id="2147483834" r:id="rId43"/>
    <p:sldLayoutId id="2147483815" r:id="rId44"/>
    <p:sldLayoutId id="2147483816" r:id="rId45"/>
    <p:sldLayoutId id="2147483817" r:id="rId46"/>
    <p:sldLayoutId id="2147483818" r:id="rId47"/>
    <p:sldLayoutId id="2147483819" r:id="rId48"/>
    <p:sldLayoutId id="2147483820" r:id="rId49"/>
    <p:sldLayoutId id="2147483821" r:id="rId50"/>
    <p:sldLayoutId id="2147483822" r:id="rId51"/>
    <p:sldLayoutId id="2147483835" r:id="rId52"/>
    <p:sldLayoutId id="2147483823" r:id="rId53"/>
    <p:sldLayoutId id="2147483824" r:id="rId54"/>
    <p:sldLayoutId id="2147483825" r:id="rId55"/>
    <p:sldLayoutId id="2147483826" r:id="rId56"/>
    <p:sldLayoutId id="2147483827" r:id="rId57"/>
    <p:sldLayoutId id="2147483828" r:id="rId58"/>
    <p:sldLayoutId id="2147483829" r:id="rId59"/>
    <p:sldLayoutId id="2147483830" r:id="rId60"/>
    <p:sldLayoutId id="2147483831" r:id="rId6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u="sng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608C23-AAC7-24F5-F2C0-159F3F981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702878" cy="5588001"/>
          </a:xfrm>
        </p:spPr>
        <p:txBody>
          <a:bodyPr/>
          <a:lstStyle/>
          <a:p>
            <a:r>
              <a:rPr lang="en-US" sz="5400" b="0" u="none" dirty="0"/>
              <a:t>Gra </a:t>
            </a:r>
            <a:r>
              <a:rPr lang="en-US" sz="5400" b="0" u="none" dirty="0" err="1"/>
              <a:t>komputerowa</a:t>
            </a:r>
            <a:br>
              <a:rPr lang="en-US" dirty="0"/>
            </a:br>
            <a:r>
              <a:rPr lang="en-US" dirty="0"/>
              <a:t>The </a:t>
            </a:r>
            <a:r>
              <a:rPr lang="en-US" dirty="0" err="1"/>
              <a:t>Zjazd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DE37C8C-B9EB-77D8-9402-9E66A29BE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/>
          <a:lstStyle/>
          <a:p>
            <a:r>
              <a:rPr lang="en-US" dirty="0"/>
              <a:t>Grupa A</a:t>
            </a:r>
            <a:br>
              <a:rPr lang="en-US" dirty="0"/>
            </a:br>
            <a:r>
              <a:rPr lang="en-US" dirty="0" err="1"/>
              <a:t>Zajęcia</a:t>
            </a:r>
            <a:r>
              <a:rPr lang="en-US" dirty="0"/>
              <a:t> nr. 2</a:t>
            </a:r>
            <a:br>
              <a:rPr lang="en-US" dirty="0"/>
            </a:br>
            <a:r>
              <a:rPr lang="en-US" dirty="0"/>
              <a:t>10.10.2026</a:t>
            </a:r>
          </a:p>
        </p:txBody>
      </p:sp>
    </p:spTree>
    <p:extLst>
      <p:ext uri="{BB962C8B-B14F-4D97-AF65-F5344CB8AC3E}">
        <p14:creationId xmlns:p14="http://schemas.microsoft.com/office/powerpoint/2010/main" val="396911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B9519-237E-F154-0775-DC5A3CDF7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-311733"/>
            <a:ext cx="3185992" cy="3585888"/>
          </a:xfrm>
        </p:spPr>
        <p:txBody>
          <a:bodyPr/>
          <a:lstStyle/>
          <a:p>
            <a:r>
              <a:rPr lang="en-US" dirty="0" err="1"/>
              <a:t>Skład</a:t>
            </a:r>
            <a:r>
              <a:rPr lang="en-US" dirty="0"/>
              <a:t> </a:t>
            </a:r>
            <a:r>
              <a:rPr lang="en-US" dirty="0" err="1"/>
              <a:t>Grupy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ACC6B-C7FD-0935-2022-57CCC9D64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3274690"/>
            <a:ext cx="5652464" cy="222695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2000" b="1" dirty="0">
              <a:latin typeface="Aptos"/>
            </a:endParaRPr>
          </a:p>
          <a:p>
            <a:pPr marL="320040"/>
            <a:r>
              <a:rPr lang="en-US" sz="2000" b="1"/>
              <a:t>Oliwia Tomala – Product Owner/Team Member</a:t>
            </a:r>
            <a:endParaRPr lang="en-US" sz="2000" b="1" dirty="0"/>
          </a:p>
          <a:p>
            <a:pPr marL="320040"/>
            <a:r>
              <a:rPr lang="en-US" sz="2000" b="1" dirty="0"/>
              <a:t>Piotrek </a:t>
            </a:r>
            <a:r>
              <a:rPr lang="en-US" sz="2000" b="1" dirty="0" err="1"/>
              <a:t>Gnacy</a:t>
            </a:r>
            <a:r>
              <a:rPr lang="en-US" sz="2000" b="1" dirty="0"/>
              <a:t>- Scrum Master/Team Member</a:t>
            </a:r>
            <a:endParaRPr lang="en-US" sz="2000" dirty="0"/>
          </a:p>
          <a:p>
            <a:pPr marL="320040"/>
            <a:r>
              <a:rPr lang="en-US" sz="2000" b="1" dirty="0"/>
              <a:t>Agata </a:t>
            </a:r>
            <a:r>
              <a:rPr lang="en-US" sz="2000" b="1" dirty="0" err="1"/>
              <a:t>Wodecka-Barejko</a:t>
            </a:r>
            <a:r>
              <a:rPr lang="en-US" sz="2000" b="1" dirty="0"/>
              <a:t> - Team Member</a:t>
            </a:r>
            <a:endParaRPr lang="en-US" sz="2000" dirty="0"/>
          </a:p>
          <a:p>
            <a:pPr marL="320040"/>
            <a:r>
              <a:rPr lang="en-US" sz="2000" b="1"/>
              <a:t>Arek Moskal – Team Member</a:t>
            </a:r>
            <a:endParaRPr lang="en-US" sz="2000" b="1" dirty="0"/>
          </a:p>
          <a:p>
            <a:pPr marL="320040"/>
            <a:r>
              <a:rPr lang="en-US" sz="2000" b="1" dirty="0"/>
              <a:t>Filip </a:t>
            </a:r>
            <a:r>
              <a:rPr lang="en-US" sz="2000" b="1" dirty="0" err="1"/>
              <a:t>Spychała</a:t>
            </a:r>
            <a:r>
              <a:rPr lang="en-US" sz="2000" b="1" dirty="0"/>
              <a:t> - Team Member</a:t>
            </a:r>
          </a:p>
        </p:txBody>
      </p:sp>
      <p:pic>
        <p:nvPicPr>
          <p:cNvPr id="10" name="Picture Placeholder 9" descr="Osoby patrząc na laptopa">
            <a:extLst>
              <a:ext uri="{FF2B5EF4-FFF2-40B4-BE49-F238E27FC236}">
                <a16:creationId xmlns:a16="http://schemas.microsoft.com/office/drawing/2014/main" id="{B252F4F5-0329-8056-5431-FB2A9E334CE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21910" r="21910"/>
          <a:stretch/>
        </p:blipFill>
        <p:spPr>
          <a:xfrm>
            <a:off x="7284255" y="630936"/>
            <a:ext cx="4273710" cy="5592064"/>
          </a:xfrm>
        </p:spPr>
      </p:pic>
    </p:spTree>
    <p:extLst>
      <p:ext uri="{BB962C8B-B14F-4D97-AF65-F5344CB8AC3E}">
        <p14:creationId xmlns:p14="http://schemas.microsoft.com/office/powerpoint/2010/main" val="3664579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108" y="437834"/>
            <a:ext cx="7538425" cy="20970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Wycinek </a:t>
            </a:r>
            <a:r>
              <a:rPr lang="en-US" dirty="0" err="1"/>
              <a:t>rzeczywistoŚCi</a:t>
            </a:r>
            <a:br>
              <a:rPr lang="en-US" dirty="0"/>
            </a:br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BBBDA0-156C-7A5D-0B91-1441CED289AF}"/>
              </a:ext>
            </a:extLst>
          </p:cNvPr>
          <p:cNvSpPr txBox="1"/>
          <p:nvPr/>
        </p:nvSpPr>
        <p:spPr>
          <a:xfrm>
            <a:off x="510807" y="2306052"/>
            <a:ext cx="9845708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Gra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przygodowa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 "The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Zjazd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"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pozwala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wcielić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się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 w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postać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osoby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studiującej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na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Politechnice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Opolskiej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.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Eksplorując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 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zawiłe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 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budynki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uczelni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,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napotyka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się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  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różne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postacie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,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przedmioty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 I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zadania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,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które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 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ułatwiają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lub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utrudniają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przeżycie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weekendowego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800" b="1" dirty="0" err="1">
                <a:solidFill>
                  <a:srgbClr val="003A41"/>
                </a:solidFill>
                <a:ea typeface="+mn-lt"/>
                <a:cs typeface="+mn-lt"/>
              </a:rPr>
              <a:t>zjazdu</a:t>
            </a:r>
            <a:r>
              <a:rPr lang="en-US" sz="2800" b="1" dirty="0">
                <a:solidFill>
                  <a:srgbClr val="003A41"/>
                </a:solidFill>
                <a:ea typeface="+mn-lt"/>
                <a:cs typeface="+mn-lt"/>
              </a:rPr>
              <a:t>.</a:t>
            </a:r>
            <a:endParaRPr lang="en-US" sz="2800" b="1" dirty="0">
              <a:solidFill>
                <a:srgbClr val="003A41"/>
              </a:solidFill>
            </a:endParaRPr>
          </a:p>
          <a:p>
            <a:endParaRPr lang="en-US" sz="2800" b="1" dirty="0">
              <a:solidFill>
                <a:srgbClr val="003A41"/>
              </a:solidFill>
            </a:endParaRPr>
          </a:p>
          <a:p>
            <a:r>
              <a:rPr lang="en-US" sz="2800" b="1" dirty="0">
                <a:solidFill>
                  <a:srgbClr val="003A41"/>
                </a:solidFill>
              </a:rPr>
              <a:t>Jest to </a:t>
            </a:r>
            <a:r>
              <a:rPr lang="en-US" sz="2800" b="1" dirty="0" err="1">
                <a:solidFill>
                  <a:srgbClr val="003A41"/>
                </a:solidFill>
              </a:rPr>
              <a:t>świetna</a:t>
            </a:r>
            <a:r>
              <a:rPr lang="en-US" sz="2800" b="1" dirty="0">
                <a:solidFill>
                  <a:srgbClr val="003A41"/>
                </a:solidFill>
              </a:rPr>
              <a:t> </a:t>
            </a:r>
            <a:r>
              <a:rPr lang="en-US" sz="2800" b="1" dirty="0" err="1">
                <a:solidFill>
                  <a:srgbClr val="003A41"/>
                </a:solidFill>
              </a:rPr>
              <a:t>propozycja</a:t>
            </a:r>
            <a:r>
              <a:rPr lang="en-US" sz="2800" b="1" dirty="0">
                <a:solidFill>
                  <a:srgbClr val="003A41"/>
                </a:solidFill>
              </a:rPr>
              <a:t> </a:t>
            </a:r>
            <a:r>
              <a:rPr lang="en-US" sz="2800" b="1" dirty="0" err="1">
                <a:solidFill>
                  <a:srgbClr val="003A41"/>
                </a:solidFill>
              </a:rPr>
              <a:t>dla</a:t>
            </a:r>
            <a:r>
              <a:rPr lang="en-US" sz="2800" b="1" dirty="0">
                <a:solidFill>
                  <a:srgbClr val="003A41"/>
                </a:solidFill>
              </a:rPr>
              <a:t> </a:t>
            </a:r>
            <a:r>
              <a:rPr lang="en-US" sz="2800" b="1" dirty="0" err="1">
                <a:solidFill>
                  <a:srgbClr val="003A41"/>
                </a:solidFill>
              </a:rPr>
              <a:t>graczy</a:t>
            </a:r>
            <a:r>
              <a:rPr lang="en-US" sz="2800" b="1" dirty="0">
                <a:solidFill>
                  <a:srgbClr val="003A41"/>
                </a:solidFill>
              </a:rPr>
              <a:t> </a:t>
            </a:r>
            <a:r>
              <a:rPr lang="en-US" sz="2800" b="1" dirty="0" err="1">
                <a:solidFill>
                  <a:srgbClr val="003A41"/>
                </a:solidFill>
              </a:rPr>
              <a:t>głodnych</a:t>
            </a:r>
            <a:r>
              <a:rPr lang="en-US" sz="2800" b="1" dirty="0">
                <a:solidFill>
                  <a:srgbClr val="003A41"/>
                </a:solidFill>
              </a:rPr>
              <a:t> </a:t>
            </a:r>
            <a:r>
              <a:rPr lang="en-US" sz="2800" b="1" dirty="0" err="1">
                <a:solidFill>
                  <a:srgbClr val="003A41"/>
                </a:solidFill>
              </a:rPr>
              <a:t>wyzwań</a:t>
            </a:r>
            <a:r>
              <a:rPr lang="en-US" sz="2800" b="1" dirty="0">
                <a:solidFill>
                  <a:srgbClr val="003A41"/>
                </a:solidFill>
              </a:rPr>
              <a:t> I </a:t>
            </a:r>
            <a:r>
              <a:rPr lang="en-US" sz="2800" b="1" dirty="0" err="1">
                <a:solidFill>
                  <a:srgbClr val="003A41"/>
                </a:solidFill>
              </a:rPr>
              <a:t>przygody</a:t>
            </a:r>
            <a:r>
              <a:rPr lang="en-US" sz="2800" b="1" dirty="0">
                <a:solidFill>
                  <a:srgbClr val="003A41"/>
                </a:solidFill>
              </a:rPr>
              <a:t>. </a:t>
            </a:r>
            <a:r>
              <a:rPr lang="en-US" sz="2800" b="1" dirty="0" err="1">
                <a:solidFill>
                  <a:srgbClr val="003A41"/>
                </a:solidFill>
              </a:rPr>
              <a:t>Otwarty</a:t>
            </a:r>
            <a:r>
              <a:rPr lang="en-US" sz="2800" b="1" dirty="0">
                <a:solidFill>
                  <a:srgbClr val="003A41"/>
                </a:solidFill>
              </a:rPr>
              <a:t> I </a:t>
            </a:r>
            <a:r>
              <a:rPr lang="en-US" sz="2800" b="1" dirty="0" err="1">
                <a:solidFill>
                  <a:srgbClr val="003A41"/>
                </a:solidFill>
              </a:rPr>
              <a:t>bogaty</a:t>
            </a:r>
            <a:r>
              <a:rPr lang="en-US" sz="2800" b="1" dirty="0">
                <a:solidFill>
                  <a:srgbClr val="003A41"/>
                </a:solidFill>
              </a:rPr>
              <a:t> </a:t>
            </a:r>
            <a:r>
              <a:rPr lang="en-US" sz="2800" b="1" dirty="0" err="1">
                <a:solidFill>
                  <a:srgbClr val="003A41"/>
                </a:solidFill>
              </a:rPr>
              <a:t>świat</a:t>
            </a:r>
            <a:r>
              <a:rPr lang="en-US" sz="2800" b="1" dirty="0">
                <a:solidFill>
                  <a:srgbClr val="003A41"/>
                </a:solidFill>
              </a:rPr>
              <a:t> </a:t>
            </a:r>
            <a:r>
              <a:rPr lang="en-US" sz="2800" b="1" dirty="0" err="1">
                <a:solidFill>
                  <a:srgbClr val="003A41"/>
                </a:solidFill>
              </a:rPr>
              <a:t>kampusu</a:t>
            </a:r>
            <a:r>
              <a:rPr lang="en-US" sz="2800" b="1" dirty="0">
                <a:solidFill>
                  <a:srgbClr val="003A41"/>
                </a:solidFill>
              </a:rPr>
              <a:t> </a:t>
            </a:r>
            <a:r>
              <a:rPr lang="en-US" sz="2800" b="1" dirty="0" err="1">
                <a:solidFill>
                  <a:srgbClr val="003A41"/>
                </a:solidFill>
              </a:rPr>
              <a:t>zapewni</a:t>
            </a:r>
            <a:r>
              <a:rPr lang="en-US" sz="2800" b="1" dirty="0">
                <a:solidFill>
                  <a:srgbClr val="003A41"/>
                </a:solidFill>
              </a:rPr>
              <a:t> </a:t>
            </a:r>
            <a:r>
              <a:rPr lang="en-US" sz="2800" b="1" dirty="0" err="1">
                <a:solidFill>
                  <a:srgbClr val="003A41"/>
                </a:solidFill>
              </a:rPr>
              <a:t>rozrywkę</a:t>
            </a:r>
            <a:r>
              <a:rPr lang="en-US" sz="2800" b="1" dirty="0">
                <a:solidFill>
                  <a:srgbClr val="003A41"/>
                </a:solidFill>
              </a:rPr>
              <a:t> </a:t>
            </a:r>
            <a:r>
              <a:rPr lang="en-US" sz="2800" b="1" dirty="0" err="1">
                <a:solidFill>
                  <a:srgbClr val="003A41"/>
                </a:solidFill>
              </a:rPr>
              <a:t>na</a:t>
            </a:r>
            <a:r>
              <a:rPr lang="en-US" sz="2800" b="1" dirty="0">
                <a:solidFill>
                  <a:srgbClr val="003A41"/>
                </a:solidFill>
              </a:rPr>
              <a:t> </a:t>
            </a:r>
            <a:r>
              <a:rPr lang="en-US" sz="2800" b="1" dirty="0" err="1">
                <a:solidFill>
                  <a:srgbClr val="003A41"/>
                </a:solidFill>
              </a:rPr>
              <a:t>wiele</a:t>
            </a:r>
            <a:r>
              <a:rPr lang="en-US" sz="2800" b="1" dirty="0">
                <a:solidFill>
                  <a:srgbClr val="003A41"/>
                </a:solidFill>
              </a:rPr>
              <a:t> </a:t>
            </a:r>
            <a:r>
              <a:rPr lang="en-US" sz="2800" b="1" dirty="0" err="1">
                <a:solidFill>
                  <a:srgbClr val="003A41"/>
                </a:solidFill>
              </a:rPr>
              <a:t>godzin</a:t>
            </a:r>
            <a:r>
              <a:rPr lang="en-US" sz="2800" b="1" dirty="0">
                <a:solidFill>
                  <a:srgbClr val="003A41"/>
                </a:solidFill>
              </a:rPr>
              <a:t>.</a:t>
            </a:r>
          </a:p>
          <a:p>
            <a:endParaRPr lang="en-US" dirty="0">
              <a:solidFill>
                <a:srgbClr val="003A4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AA463-F531-1FC1-6826-167C367BDD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9" y="1040964"/>
            <a:ext cx="9409775" cy="580542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6000" b="1">
                <a:solidFill>
                  <a:srgbClr val="FFFFFF"/>
                </a:solidFill>
              </a:rPr>
              <a:t>ZAMAWIANY PRODUKT</a:t>
            </a:r>
            <a:endParaRPr lang="en-US" sz="6000" b="1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CD53E-A218-E55C-40C9-3CEC88BF742C}"/>
              </a:ext>
            </a:extLst>
          </p:cNvPr>
          <p:cNvSpPr txBox="1"/>
          <p:nvPr/>
        </p:nvSpPr>
        <p:spPr>
          <a:xfrm>
            <a:off x="630187" y="2295892"/>
            <a:ext cx="10134065" cy="39136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/>
              <a:t>Przedmiotem</a:t>
            </a:r>
            <a:r>
              <a:rPr lang="en-US" sz="2400" b="1" dirty="0"/>
              <a:t> </a:t>
            </a:r>
            <a:r>
              <a:rPr lang="en-US" sz="2400" b="1" dirty="0" err="1"/>
              <a:t>projektu</a:t>
            </a:r>
            <a:r>
              <a:rPr lang="en-US" sz="2400" b="1" dirty="0"/>
              <a:t> jest </a:t>
            </a:r>
            <a:r>
              <a:rPr lang="en-US" sz="2400" b="1" dirty="0" err="1"/>
              <a:t>gra</a:t>
            </a:r>
            <a:r>
              <a:rPr lang="en-US" sz="2400" b="1" dirty="0"/>
              <a:t> </a:t>
            </a:r>
            <a:r>
              <a:rPr lang="en-US" sz="2400" b="1" dirty="0" err="1"/>
              <a:t>komputerowa</a:t>
            </a:r>
            <a:r>
              <a:rPr lang="en-US" sz="2400" b="1" dirty="0"/>
              <a:t> „The </a:t>
            </a:r>
            <a:r>
              <a:rPr lang="en-US" sz="2400" b="1" dirty="0" err="1"/>
              <a:t>Zjazd</a:t>
            </a:r>
            <a:r>
              <a:rPr lang="en-US" sz="2400" b="1" dirty="0"/>
              <a:t>”, </a:t>
            </a:r>
            <a:r>
              <a:rPr lang="en-US" sz="2400" b="1" dirty="0" err="1"/>
              <a:t>która</a:t>
            </a:r>
            <a:r>
              <a:rPr lang="en-US" sz="2400" b="1" dirty="0"/>
              <a:t> </a:t>
            </a:r>
            <a:r>
              <a:rPr lang="en-US" sz="2400" b="1" dirty="0" err="1"/>
              <a:t>umożliwi</a:t>
            </a:r>
            <a:r>
              <a:rPr lang="en-US" sz="2400" b="1" dirty="0"/>
              <a:t>:​ ​</a:t>
            </a:r>
            <a:endParaRPr lang="en-US"/>
          </a:p>
          <a:p>
            <a:pPr>
              <a:lnSpc>
                <a:spcPct val="150000"/>
              </a:lnSpc>
            </a:pPr>
            <a:endParaRPr lang="en-US" sz="2400" b="1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dirty="0" err="1"/>
              <a:t>Wcielenie</a:t>
            </a:r>
            <a:r>
              <a:rPr lang="en-US" sz="2400" b="1" dirty="0"/>
              <a:t> </a:t>
            </a:r>
            <a:r>
              <a:rPr lang="en-US" sz="2400" b="1" dirty="0" err="1"/>
              <a:t>się</a:t>
            </a:r>
            <a:r>
              <a:rPr lang="en-US" sz="2400" b="1" dirty="0"/>
              <a:t> w </a:t>
            </a:r>
            <a:r>
              <a:rPr lang="en-US" sz="2400" b="1" dirty="0" err="1"/>
              <a:t>postać</a:t>
            </a:r>
            <a:r>
              <a:rPr lang="en-US" sz="2400" b="1" dirty="0"/>
              <a:t> </a:t>
            </a:r>
            <a:r>
              <a:rPr lang="en-US" sz="2400" b="1" dirty="0" err="1"/>
              <a:t>studenta</a:t>
            </a:r>
            <a:r>
              <a:rPr lang="en-US" sz="2400" b="1" dirty="0"/>
              <a:t> </a:t>
            </a:r>
            <a:r>
              <a:rPr lang="en-US" sz="2400" b="1" dirty="0" err="1"/>
              <a:t>Politechniki</a:t>
            </a:r>
            <a:r>
              <a:rPr lang="en-US" sz="2400" b="1" dirty="0"/>
              <a:t> </a:t>
            </a:r>
            <a:r>
              <a:rPr lang="en-US" sz="2400" b="1" dirty="0" err="1"/>
              <a:t>Opolskiej</a:t>
            </a:r>
            <a:r>
              <a:rPr lang="en-US" sz="2400" b="1" dirty="0"/>
              <a:t> ​ ​ 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dirty="0" err="1"/>
              <a:t>Eksplorację</a:t>
            </a:r>
            <a:r>
              <a:rPr lang="en-US" sz="2400" b="1" dirty="0"/>
              <a:t> </a:t>
            </a:r>
            <a:r>
              <a:rPr lang="en-US" sz="2400" b="1" dirty="0" err="1"/>
              <a:t>lokacji</a:t>
            </a:r>
            <a:r>
              <a:rPr lang="en-US" sz="2400" b="1" dirty="0"/>
              <a:t> </a:t>
            </a:r>
            <a:r>
              <a:rPr lang="en-US" sz="2400" b="1" dirty="0" err="1"/>
              <a:t>inspirowanych</a:t>
            </a:r>
            <a:r>
              <a:rPr lang="en-US" sz="2400" b="1" dirty="0"/>
              <a:t> </a:t>
            </a:r>
            <a:r>
              <a:rPr lang="en-US" sz="2400" b="1" dirty="0" err="1"/>
              <a:t>budynkami</a:t>
            </a:r>
            <a:r>
              <a:rPr lang="en-US" sz="2400" b="1" dirty="0"/>
              <a:t> </a:t>
            </a:r>
            <a:r>
              <a:rPr lang="en-US" sz="2400" b="1" dirty="0" err="1"/>
              <a:t>uczelni</a:t>
            </a:r>
            <a:r>
              <a:rPr lang="en-US" sz="2400" b="1" dirty="0"/>
              <a:t> ​ ​ 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dirty="0" err="1"/>
              <a:t>Rozwiązywanie</a:t>
            </a:r>
            <a:r>
              <a:rPr lang="en-US" sz="2400" b="1" dirty="0"/>
              <a:t> </a:t>
            </a:r>
            <a:r>
              <a:rPr lang="en-US" sz="2400" b="1" dirty="0" err="1"/>
              <a:t>zadań</a:t>
            </a:r>
            <a:r>
              <a:rPr lang="en-US" sz="2400" b="1" dirty="0"/>
              <a:t> I </a:t>
            </a:r>
            <a:r>
              <a:rPr lang="en-US" sz="2400" b="1" dirty="0" err="1"/>
              <a:t>łamigłówek</a:t>
            </a:r>
            <a:r>
              <a:rPr lang="en-US" sz="2400" b="1" dirty="0"/>
              <a:t> </a:t>
            </a:r>
            <a:r>
              <a:rPr lang="en-US" sz="2400" b="1" dirty="0" err="1"/>
              <a:t>związanych</a:t>
            </a:r>
            <a:r>
              <a:rPr lang="en-US" sz="2400" b="1" dirty="0"/>
              <a:t> z </a:t>
            </a:r>
            <a:r>
              <a:rPr lang="en-US" sz="2400" b="1" dirty="0" err="1"/>
              <a:t>kierunkiem</a:t>
            </a:r>
            <a:r>
              <a:rPr lang="en-US" sz="2400" b="1" dirty="0"/>
              <a:t> </a:t>
            </a:r>
            <a:r>
              <a:rPr lang="en-US" sz="2400" b="1" dirty="0" err="1"/>
              <a:t>studiów</a:t>
            </a:r>
            <a:r>
              <a:rPr lang="en-US" sz="2400" b="1" dirty="0"/>
              <a:t> ​ ​ 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dirty="0" err="1"/>
              <a:t>Interakcja</a:t>
            </a:r>
            <a:r>
              <a:rPr lang="en-US" sz="2400" b="1" dirty="0"/>
              <a:t> z </a:t>
            </a:r>
            <a:r>
              <a:rPr lang="en-US" sz="2400" b="1" dirty="0" err="1"/>
              <a:t>innymi</a:t>
            </a:r>
            <a:r>
              <a:rPr lang="en-US" sz="2400" b="1" dirty="0"/>
              <a:t> </a:t>
            </a:r>
            <a:r>
              <a:rPr lang="en-US" sz="2400" b="1" dirty="0" err="1"/>
              <a:t>postaciami</a:t>
            </a:r>
            <a:r>
              <a:rPr lang="en-US" sz="2400" b="1" dirty="0"/>
              <a:t> ​ ​ 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dirty="0" err="1"/>
              <a:t>Przetrwanie</a:t>
            </a:r>
            <a:r>
              <a:rPr lang="en-US" sz="2400" b="1" dirty="0"/>
              <a:t> </a:t>
            </a:r>
            <a:r>
              <a:rPr lang="en-US" sz="2400" b="1" dirty="0" err="1"/>
              <a:t>weekendowego</a:t>
            </a:r>
            <a:r>
              <a:rPr lang="en-US" sz="2400" b="1" dirty="0"/>
              <a:t> </a:t>
            </a:r>
            <a:r>
              <a:rPr lang="en-US" sz="2400" b="1" dirty="0" err="1"/>
              <a:t>zjazdu</a:t>
            </a:r>
            <a:r>
              <a:rPr lang="en-US" sz="2400" b="1" dirty="0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408536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A1DC5B-8FBC-A622-B707-006DE6C54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13" y="-792480"/>
            <a:ext cx="11579225" cy="792480"/>
          </a:xfrm>
        </p:spPr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7DDE55-A8FE-FE29-3A72-A5226E307E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8" y="1011936"/>
            <a:ext cx="9074511" cy="229514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solidFill>
                  <a:srgbClr val="003A41"/>
                </a:solidFill>
                <a:ea typeface="+mj-lt"/>
                <a:cs typeface="+mj-lt"/>
              </a:rPr>
              <a:t>FUNKCJE ZAMAWIANEGO PRODUKTU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07A4A5-C57C-2E76-7065-29A841FBFA86}"/>
              </a:ext>
            </a:extLst>
          </p:cNvPr>
          <p:cNvSpPr txBox="1"/>
          <p:nvPr/>
        </p:nvSpPr>
        <p:spPr>
          <a:xfrm>
            <a:off x="630454" y="3155750"/>
            <a:ext cx="7529763" cy="2947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Eksploracja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mapy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uczelni</a:t>
            </a:r>
            <a:endParaRPr lang="en-US" sz="2400" b="1">
              <a:solidFill>
                <a:srgbClr val="003A41"/>
              </a:solidFill>
            </a:endParaRP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Zdobywanie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punktów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ECTS</a:t>
            </a:r>
            <a:endParaRPr lang="en-US" sz="2400" b="1">
              <a:solidFill>
                <a:srgbClr val="003A41"/>
              </a:solidFill>
            </a:endParaRP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Możliwość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rozwoju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postaci</a:t>
            </a:r>
            <a:endParaRPr lang="en-US" sz="2400" b="1">
              <a:solidFill>
                <a:srgbClr val="003A41"/>
              </a:solidFill>
            </a:endParaRP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Mechaniki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przetrwania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i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energii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(kawa,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energetyki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)</a:t>
            </a:r>
            <a:endParaRPr lang="en-US" sz="2400" b="1">
              <a:solidFill>
                <a:srgbClr val="003A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145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15B29-4E45-6F70-804F-B315516D2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746" y="758087"/>
            <a:ext cx="11319547" cy="1691943"/>
          </a:xfrm>
        </p:spPr>
        <p:txBody>
          <a:bodyPr/>
          <a:lstStyle/>
          <a:p>
            <a:r>
              <a:rPr lang="en-US" dirty="0" err="1"/>
              <a:t>Cechy</a:t>
            </a:r>
            <a:r>
              <a:rPr lang="en-US" dirty="0"/>
              <a:t> </a:t>
            </a:r>
            <a:r>
              <a:rPr lang="en-US" dirty="0" err="1"/>
              <a:t>zamawianego</a:t>
            </a:r>
            <a:r>
              <a:rPr lang="en-US" dirty="0"/>
              <a:t> </a:t>
            </a:r>
            <a:r>
              <a:rPr lang="en-US" dirty="0" err="1"/>
              <a:t>produktu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DC57-B250-944C-B430-81AE4BA0428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359" y="2706652"/>
            <a:ext cx="8148645" cy="43322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 err="1">
                <a:ea typeface="+mn-lt"/>
                <a:cs typeface="+mn-lt"/>
              </a:rPr>
              <a:t>Grafika</a:t>
            </a:r>
            <a:r>
              <a:rPr lang="en-US" sz="2400" b="1" dirty="0">
                <a:ea typeface="+mn-lt"/>
                <a:cs typeface="+mn-lt"/>
              </a:rPr>
              <a:t> 2D z </a:t>
            </a:r>
            <a:r>
              <a:rPr lang="en-US" sz="2400" b="1" dirty="0" err="1">
                <a:ea typeface="+mn-lt"/>
                <a:cs typeface="+mn-lt"/>
              </a:rPr>
              <a:t>widokiem</a:t>
            </a:r>
            <a:r>
              <a:rPr lang="en-US" sz="2400" b="1" dirty="0">
                <a:ea typeface="+mn-lt"/>
                <a:cs typeface="+mn-lt"/>
              </a:rPr>
              <a:t> z </a:t>
            </a:r>
            <a:r>
              <a:rPr lang="en-US" sz="2400" b="1" dirty="0" err="1">
                <a:ea typeface="+mn-lt"/>
                <a:cs typeface="+mn-lt"/>
              </a:rPr>
              <a:t>góry</a:t>
            </a:r>
            <a:endParaRPr lang="en-US" sz="2400" b="1" dirty="0"/>
          </a:p>
          <a:p>
            <a:r>
              <a:rPr lang="en-US" sz="2400" b="1" dirty="0" err="1">
                <a:ea typeface="+mn-lt"/>
                <a:cs typeface="+mn-lt"/>
              </a:rPr>
              <a:t>Intuicyjny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dirty="0" err="1">
                <a:ea typeface="+mn-lt"/>
                <a:cs typeface="+mn-lt"/>
              </a:rPr>
              <a:t>interfejs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dirty="0" err="1">
                <a:ea typeface="+mn-lt"/>
                <a:cs typeface="+mn-lt"/>
              </a:rPr>
              <a:t>użytkownika</a:t>
            </a:r>
            <a:endParaRPr lang="en-US" sz="2400" b="1" dirty="0"/>
          </a:p>
          <a:p>
            <a:r>
              <a:rPr lang="en-US" sz="2400" b="1" dirty="0" err="1">
                <a:ea typeface="+mn-lt"/>
                <a:cs typeface="+mn-lt"/>
              </a:rPr>
              <a:t>Humorystyczna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dirty="0" err="1">
                <a:ea typeface="+mn-lt"/>
                <a:cs typeface="+mn-lt"/>
              </a:rPr>
              <a:t>stylistyka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dirty="0" err="1">
                <a:ea typeface="+mn-lt"/>
                <a:cs typeface="+mn-lt"/>
              </a:rPr>
              <a:t>życia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dirty="0" err="1">
                <a:ea typeface="+mn-lt"/>
                <a:cs typeface="+mn-lt"/>
              </a:rPr>
              <a:t>studenckiego</a:t>
            </a:r>
            <a:endParaRPr lang="en-US" sz="2400" b="1" dirty="0"/>
          </a:p>
          <a:p>
            <a:r>
              <a:rPr lang="en-US" sz="2400" b="1" dirty="0">
                <a:ea typeface="+mn-lt"/>
                <a:cs typeface="+mn-lt"/>
              </a:rPr>
              <a:t>Reset </a:t>
            </a:r>
            <a:r>
              <a:rPr lang="en-US" sz="2400" b="1" dirty="0" err="1">
                <a:ea typeface="+mn-lt"/>
                <a:cs typeface="+mn-lt"/>
              </a:rPr>
              <a:t>gry</a:t>
            </a:r>
            <a:r>
              <a:rPr lang="en-US" sz="2400" b="1" dirty="0">
                <a:ea typeface="+mn-lt"/>
                <a:cs typeface="+mn-lt"/>
              </a:rPr>
              <a:t> z </a:t>
            </a:r>
            <a:r>
              <a:rPr lang="en-US" sz="2400" b="1" dirty="0" err="1">
                <a:ea typeface="+mn-lt"/>
                <a:cs typeface="+mn-lt"/>
              </a:rPr>
              <a:t>każdym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dirty="0" err="1">
                <a:ea typeface="+mn-lt"/>
                <a:cs typeface="+mn-lt"/>
              </a:rPr>
              <a:t>podejściem</a:t>
            </a:r>
            <a:r>
              <a:rPr lang="en-US" sz="2400" b="1" dirty="0">
                <a:ea typeface="+mn-lt"/>
                <a:cs typeface="+mn-lt"/>
              </a:rPr>
              <a:t>, z </a:t>
            </a:r>
            <a:r>
              <a:rPr lang="en-US" sz="2400" b="1" dirty="0" err="1">
                <a:ea typeface="+mn-lt"/>
                <a:cs typeface="+mn-lt"/>
              </a:rPr>
              <a:t>możliwością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dirty="0" err="1">
                <a:ea typeface="+mn-lt"/>
                <a:cs typeface="+mn-lt"/>
              </a:rPr>
              <a:t>zachowania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dirty="0" err="1">
                <a:ea typeface="+mn-lt"/>
                <a:cs typeface="+mn-lt"/>
              </a:rPr>
              <a:t>części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dirty="0" err="1">
                <a:ea typeface="+mn-lt"/>
                <a:cs typeface="+mn-lt"/>
              </a:rPr>
              <a:t>ulepszeń</a:t>
            </a:r>
            <a:endParaRPr lang="en-US" sz="2400" b="1" dirty="0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891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60D7-F74C-CD9E-C576-1CB8FFE87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508" y="437834"/>
            <a:ext cx="11114745" cy="14874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solidFill>
                  <a:srgbClr val="003A41"/>
                </a:solidFill>
                <a:ea typeface="+mj-lt"/>
                <a:cs typeface="+mj-lt"/>
              </a:rPr>
              <a:t>Funkcjonalności</a:t>
            </a:r>
            <a:r>
              <a:rPr lang="en-US" dirty="0">
                <a:solidFill>
                  <a:srgbClr val="003A41"/>
                </a:solidFill>
                <a:ea typeface="+mj-lt"/>
                <a:cs typeface="+mj-lt"/>
              </a:rPr>
              <a:t> </a:t>
            </a:r>
            <a:r>
              <a:rPr lang="en-US" dirty="0" err="1">
                <a:solidFill>
                  <a:srgbClr val="003A41"/>
                </a:solidFill>
                <a:ea typeface="+mj-lt"/>
                <a:cs typeface="+mj-lt"/>
              </a:rPr>
              <a:t>główne</a:t>
            </a:r>
            <a:r>
              <a:rPr lang="en-US" dirty="0">
                <a:solidFill>
                  <a:srgbClr val="003A41"/>
                </a:solidFill>
                <a:ea typeface="+mj-lt"/>
                <a:cs typeface="+mj-lt"/>
              </a:rPr>
              <a:t>: 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0C975F-2250-5038-EC70-7A184C73BCD9}"/>
              </a:ext>
            </a:extLst>
          </p:cNvPr>
          <p:cNvSpPr txBox="1"/>
          <p:nvPr/>
        </p:nvSpPr>
        <p:spPr>
          <a:xfrm>
            <a:off x="660533" y="1530283"/>
            <a:ext cx="10958762" cy="50250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Rozgrywka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roguelike w 2D: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przemierzanie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miejsc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uczelni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z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jednym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podejściem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do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przeżycia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całego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zjazdu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.</a:t>
            </a:r>
            <a:endParaRPr lang="en-US" sz="2400" b="1">
              <a:solidFill>
                <a:srgbClr val="003A41"/>
              </a:solidFill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System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zadań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i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punktów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ECTS: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wykonywanie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zadań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jako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główny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sposób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  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postępu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i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zdobywania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punktów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.</a:t>
            </a:r>
            <a:endParaRPr lang="en-US" sz="2400" b="1">
              <a:solidFill>
                <a:srgbClr val="003A41"/>
              </a:solidFill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Ranking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graczy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: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porównywanie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wyników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i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rywalizacja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o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najlepszą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pozycję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.</a:t>
            </a:r>
            <a:endParaRPr lang="en-US" sz="2400" b="1">
              <a:solidFill>
                <a:srgbClr val="003A41"/>
              </a:solidFill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Struktura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zjazdu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weekendowego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: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rozgrywka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podzielona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na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etapy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odpowiadające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czasowi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trwania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zjazdu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, z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warunkami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przetrwania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.</a:t>
            </a:r>
            <a:endParaRPr lang="en-US" sz="2400" b="1">
              <a:solidFill>
                <a:srgbClr val="003A41"/>
              </a:solidFill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Postęp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w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trakcie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podejścia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: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rozwój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postaci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w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czasie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rozgrywki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 (np.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umiejętności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,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wyposażenie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, </a:t>
            </a:r>
            <a:r>
              <a:rPr lang="en-US" sz="2400" b="1" dirty="0" err="1">
                <a:solidFill>
                  <a:srgbClr val="003A41"/>
                </a:solidFill>
                <a:ea typeface="+mn-lt"/>
                <a:cs typeface="+mn-lt"/>
              </a:rPr>
              <a:t>zasoby</a:t>
            </a:r>
            <a:r>
              <a:rPr lang="en-US" sz="2400" b="1" dirty="0">
                <a:solidFill>
                  <a:srgbClr val="003A41"/>
                </a:solidFill>
                <a:ea typeface="+mn-lt"/>
                <a:cs typeface="+mn-lt"/>
              </a:rPr>
              <a:t>).</a:t>
            </a:r>
            <a:endParaRPr lang="en-US" sz="2400" b="1">
              <a:solidFill>
                <a:srgbClr val="003A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6960-6EB7-5543-D7E2-21C56C333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300674"/>
            <a:ext cx="11350655" cy="1127760"/>
          </a:xfrm>
        </p:spPr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Funkcjonalności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dodatkowe</a:t>
            </a:r>
            <a:r>
              <a:rPr lang="en-US" dirty="0">
                <a:ea typeface="+mj-lt"/>
                <a:cs typeface="+mj-lt"/>
              </a:rPr>
              <a:t>: 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84BB3-E2D0-78D9-03EE-526422E80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 err="1">
                <a:ea typeface="+mn-lt"/>
                <a:cs typeface="+mn-lt"/>
              </a:rPr>
              <a:t>Zróżnicowane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typy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zadań</a:t>
            </a:r>
            <a:r>
              <a:rPr lang="en-US" b="1" dirty="0">
                <a:ea typeface="+mn-lt"/>
                <a:cs typeface="+mn-lt"/>
              </a:rPr>
              <a:t>: </a:t>
            </a:r>
            <a:r>
              <a:rPr lang="en-US" b="1" dirty="0" err="1">
                <a:ea typeface="+mn-lt"/>
                <a:cs typeface="+mn-lt"/>
              </a:rPr>
              <a:t>różne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formy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wyzwań</a:t>
            </a:r>
            <a:r>
              <a:rPr lang="en-US" b="1" dirty="0">
                <a:ea typeface="+mn-lt"/>
                <a:cs typeface="+mn-lt"/>
              </a:rPr>
              <a:t>, aby </a:t>
            </a:r>
            <a:r>
              <a:rPr lang="en-US" b="1" dirty="0" err="1">
                <a:ea typeface="+mn-lt"/>
                <a:cs typeface="+mn-lt"/>
              </a:rPr>
              <a:t>rozgrywka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nie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była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monotonna</a:t>
            </a:r>
            <a:r>
              <a:rPr lang="en-US" b="1" dirty="0">
                <a:ea typeface="+mn-lt"/>
                <a:cs typeface="+mn-lt"/>
              </a:rPr>
              <a:t>.</a:t>
            </a:r>
            <a:endParaRPr lang="en-US" b="1"/>
          </a:p>
          <a:p>
            <a:r>
              <a:rPr lang="en-US" b="1" dirty="0" err="1">
                <a:ea typeface="+mn-lt"/>
                <a:cs typeface="+mn-lt"/>
              </a:rPr>
              <a:t>Zdarzenia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i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przeszkody</a:t>
            </a:r>
            <a:r>
              <a:rPr lang="en-US" b="1" dirty="0">
                <a:ea typeface="+mn-lt"/>
                <a:cs typeface="+mn-lt"/>
              </a:rPr>
              <a:t>: </a:t>
            </a:r>
            <a:r>
              <a:rPr lang="en-US" b="1" dirty="0" err="1">
                <a:ea typeface="+mn-lt"/>
                <a:cs typeface="+mn-lt"/>
              </a:rPr>
              <a:t>losowe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sytuacje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wpływające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na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przebieg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zjazdu</a:t>
            </a:r>
            <a:r>
              <a:rPr lang="en-US" b="1" dirty="0">
                <a:ea typeface="+mn-lt"/>
                <a:cs typeface="+mn-lt"/>
              </a:rPr>
              <a:t>, </a:t>
            </a:r>
            <a:r>
              <a:rPr lang="en-US" b="1" dirty="0" err="1">
                <a:ea typeface="+mn-lt"/>
                <a:cs typeface="+mn-lt"/>
              </a:rPr>
              <a:t>utrudniające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lub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ułatwiające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grę</a:t>
            </a:r>
            <a:r>
              <a:rPr lang="en-US" b="1" dirty="0">
                <a:ea typeface="+mn-lt"/>
                <a:cs typeface="+mn-lt"/>
              </a:rPr>
              <a:t>.</a:t>
            </a:r>
            <a:endParaRPr lang="en-US" b="1"/>
          </a:p>
          <a:p>
            <a:r>
              <a:rPr lang="en-US" b="1" dirty="0" err="1">
                <a:ea typeface="+mn-lt"/>
                <a:cs typeface="+mn-lt"/>
              </a:rPr>
              <a:t>Postęp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między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podejściami</a:t>
            </a:r>
            <a:r>
              <a:rPr lang="en-US" b="1" dirty="0">
                <a:ea typeface="+mn-lt"/>
                <a:cs typeface="+mn-lt"/>
              </a:rPr>
              <a:t>: </a:t>
            </a:r>
            <a:r>
              <a:rPr lang="en-US" b="1" dirty="0" err="1">
                <a:ea typeface="+mn-lt"/>
                <a:cs typeface="+mn-lt"/>
              </a:rPr>
              <a:t>stałe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odblokowania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lub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ulepszenia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zachęcające</a:t>
            </a:r>
            <a:r>
              <a:rPr lang="en-US" b="1" dirty="0">
                <a:ea typeface="+mn-lt"/>
                <a:cs typeface="+mn-lt"/>
              </a:rPr>
              <a:t> do </a:t>
            </a:r>
            <a:r>
              <a:rPr lang="en-US" b="1" dirty="0" err="1">
                <a:ea typeface="+mn-lt"/>
                <a:cs typeface="+mn-lt"/>
              </a:rPr>
              <a:t>ponownych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prób</a:t>
            </a:r>
            <a:r>
              <a:rPr lang="en-US" b="1" dirty="0">
                <a:ea typeface="+mn-lt"/>
                <a:cs typeface="+mn-lt"/>
              </a:rPr>
              <a:t>/</a:t>
            </a:r>
            <a:r>
              <a:rPr lang="en-US" b="1" dirty="0" err="1">
                <a:ea typeface="+mn-lt"/>
                <a:cs typeface="+mn-lt"/>
              </a:rPr>
              <a:t>pozwalające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osiągać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lepsze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wyniki</a:t>
            </a:r>
            <a:r>
              <a:rPr lang="en-US" b="1" dirty="0">
                <a:ea typeface="+mn-lt"/>
                <a:cs typeface="+mn-lt"/>
              </a:rPr>
              <a:t> w </a:t>
            </a:r>
            <a:r>
              <a:rPr lang="en-US" b="1" dirty="0" err="1">
                <a:ea typeface="+mn-lt"/>
                <a:cs typeface="+mn-lt"/>
              </a:rPr>
              <a:t>rankingu</a:t>
            </a:r>
            <a:r>
              <a:rPr lang="en-US" b="1" dirty="0">
                <a:ea typeface="+mn-lt"/>
                <a:cs typeface="+mn-lt"/>
              </a:rPr>
              <a:t>.</a:t>
            </a:r>
            <a:endParaRPr lang="en-US" b="1"/>
          </a:p>
          <a:p>
            <a:r>
              <a:rPr lang="en-US" b="1" dirty="0">
                <a:ea typeface="+mn-lt"/>
                <a:cs typeface="+mn-lt"/>
              </a:rPr>
              <a:t>Ścieżka </a:t>
            </a:r>
            <a:r>
              <a:rPr lang="en-US" b="1" dirty="0" err="1">
                <a:ea typeface="+mn-lt"/>
                <a:cs typeface="+mn-lt"/>
              </a:rPr>
              <a:t>dźwiękowa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i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efekty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wzmacniające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klimat</a:t>
            </a:r>
            <a:r>
              <a:rPr lang="en-US" b="1" dirty="0">
                <a:ea typeface="+mn-lt"/>
                <a:cs typeface="+mn-lt"/>
              </a:rPr>
              <a:t>: </a:t>
            </a:r>
            <a:r>
              <a:rPr lang="en-US" b="1" dirty="0" err="1">
                <a:ea typeface="+mn-lt"/>
                <a:cs typeface="+mn-lt"/>
              </a:rPr>
              <a:t>rozbudowana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oprawa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muzyczna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i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dźwiękowa</a:t>
            </a:r>
            <a:r>
              <a:rPr lang="en-US" b="1" dirty="0">
                <a:ea typeface="+mn-lt"/>
                <a:cs typeface="+mn-lt"/>
              </a:rPr>
              <a:t>, w </a:t>
            </a:r>
            <a:r>
              <a:rPr lang="en-US" b="1" dirty="0" err="1">
                <a:ea typeface="+mn-lt"/>
                <a:cs typeface="+mn-lt"/>
              </a:rPr>
              <a:t>tym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zmienna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muzyka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zależna</a:t>
            </a:r>
            <a:r>
              <a:rPr lang="en-US" b="1" dirty="0">
                <a:ea typeface="+mn-lt"/>
                <a:cs typeface="+mn-lt"/>
              </a:rPr>
              <a:t> od </a:t>
            </a:r>
            <a:r>
              <a:rPr lang="en-US" b="1" dirty="0" err="1">
                <a:ea typeface="+mn-lt"/>
                <a:cs typeface="+mn-lt"/>
              </a:rPr>
              <a:t>sytuacji</a:t>
            </a:r>
            <a:r>
              <a:rPr lang="en-US" b="1" dirty="0">
                <a:ea typeface="+mn-lt"/>
                <a:cs typeface="+mn-lt"/>
              </a:rPr>
              <a:t> w </a:t>
            </a:r>
            <a:r>
              <a:rPr lang="en-US" b="1" dirty="0" err="1">
                <a:ea typeface="+mn-lt"/>
                <a:cs typeface="+mn-lt"/>
              </a:rPr>
              <a:t>grze</a:t>
            </a:r>
            <a:r>
              <a:rPr lang="en-US" b="1" dirty="0">
                <a:ea typeface="+mn-lt"/>
                <a:cs typeface="+mn-lt"/>
              </a:rPr>
              <a:t>.</a:t>
            </a:r>
            <a:endParaRPr lang="en-US" b="1"/>
          </a:p>
          <a:p>
            <a:r>
              <a:rPr lang="en-US" b="1" dirty="0" err="1">
                <a:ea typeface="+mn-lt"/>
                <a:cs typeface="+mn-lt"/>
              </a:rPr>
              <a:t>Samouczek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i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wprowadzenie</a:t>
            </a:r>
            <a:r>
              <a:rPr lang="en-US" b="1" dirty="0">
                <a:ea typeface="+mn-lt"/>
                <a:cs typeface="+mn-lt"/>
              </a:rPr>
              <a:t> do </a:t>
            </a:r>
            <a:r>
              <a:rPr lang="en-US" b="1" dirty="0" err="1">
                <a:ea typeface="+mn-lt"/>
                <a:cs typeface="+mn-lt"/>
              </a:rPr>
              <a:t>gry</a:t>
            </a:r>
            <a:r>
              <a:rPr lang="en-US" b="1" dirty="0">
                <a:ea typeface="+mn-lt"/>
                <a:cs typeface="+mn-lt"/>
              </a:rPr>
              <a:t>: </a:t>
            </a:r>
            <a:r>
              <a:rPr lang="en-US" b="1" dirty="0" err="1">
                <a:ea typeface="+mn-lt"/>
                <a:cs typeface="+mn-lt"/>
              </a:rPr>
              <a:t>łagodne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wprowadzenie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nowych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graczy</a:t>
            </a:r>
            <a:r>
              <a:rPr lang="en-US" b="1" dirty="0">
                <a:ea typeface="+mn-lt"/>
                <a:cs typeface="+mn-lt"/>
              </a:rPr>
              <a:t> w </a:t>
            </a:r>
            <a:r>
              <a:rPr lang="en-US" b="1" dirty="0" err="1">
                <a:ea typeface="+mn-lt"/>
                <a:cs typeface="+mn-lt"/>
              </a:rPr>
              <a:t>mechaniki</a:t>
            </a:r>
            <a:r>
              <a:rPr lang="en-US" b="1" dirty="0">
                <a:ea typeface="+mn-lt"/>
                <a:cs typeface="+mn-lt"/>
              </a:rPr>
              <a:t>.</a:t>
            </a:r>
            <a:endParaRPr lang="en-US" b="1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Ranking </a:t>
            </a:r>
            <a:r>
              <a:rPr lang="en-US" b="1" dirty="0" err="1">
                <a:ea typeface="+mn-lt"/>
                <a:cs typeface="+mn-lt"/>
              </a:rPr>
              <a:t>graczy</a:t>
            </a:r>
            <a:r>
              <a:rPr lang="en-US" b="1" dirty="0">
                <a:ea typeface="+mn-lt"/>
                <a:cs typeface="+mn-lt"/>
              </a:rPr>
              <a:t>: </a:t>
            </a:r>
            <a:r>
              <a:rPr lang="en-US" b="1" dirty="0" err="1">
                <a:ea typeface="+mn-lt"/>
                <a:cs typeface="+mn-lt"/>
              </a:rPr>
              <a:t>porównywanie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wyników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i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rywalizacja</a:t>
            </a:r>
            <a:r>
              <a:rPr lang="en-US" b="1" dirty="0">
                <a:ea typeface="+mn-lt"/>
                <a:cs typeface="+mn-lt"/>
              </a:rPr>
              <a:t> o </a:t>
            </a:r>
            <a:r>
              <a:rPr lang="en-US" b="1" dirty="0" err="1">
                <a:ea typeface="+mn-lt"/>
                <a:cs typeface="+mn-lt"/>
              </a:rPr>
              <a:t>najlepszą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pozycję</a:t>
            </a:r>
            <a:r>
              <a:rPr lang="en-US" b="1" dirty="0">
                <a:ea typeface="+mn-lt"/>
                <a:cs typeface="+mn-lt"/>
              </a:rPr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23826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6E2C-040E-4D92-F9F7-F61C47F4F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538480"/>
            <a:ext cx="7731038" cy="334676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 err="1">
                <a:ea typeface="+mj-lt"/>
                <a:cs typeface="+mj-lt"/>
              </a:rPr>
              <a:t>Funkcjonalności</a:t>
            </a:r>
            <a:r>
              <a:rPr lang="en-US" dirty="0">
                <a:solidFill>
                  <a:srgbClr val="003A41"/>
                </a:solidFill>
                <a:ea typeface="+mj-lt"/>
                <a:cs typeface="+mj-lt"/>
              </a:rPr>
              <a:t> </a:t>
            </a:r>
            <a:r>
              <a:rPr lang="en-US" dirty="0" err="1">
                <a:solidFill>
                  <a:srgbClr val="003A41"/>
                </a:solidFill>
                <a:ea typeface="+mj-lt"/>
                <a:cs typeface="+mj-lt"/>
              </a:rPr>
              <a:t>opcjonalne</a:t>
            </a:r>
            <a:r>
              <a:rPr lang="en-US" dirty="0">
                <a:solidFill>
                  <a:srgbClr val="003A41"/>
                </a:solidFill>
                <a:ea typeface="+mj-lt"/>
                <a:cs typeface="+mj-lt"/>
              </a:rPr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E18F-CF72-C06C-3020-B9FA4DEAB72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762566"/>
            <a:ext cx="9318330" cy="111347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Char char="•"/>
            </a:pPr>
            <a:r>
              <a:rPr lang="en-US" dirty="0" err="1">
                <a:ea typeface="+mj-lt"/>
                <a:cs typeface="+mj-lt"/>
              </a:rPr>
              <a:t>Osiągnięcia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kolekcjonerskie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nagrody</a:t>
            </a:r>
            <a:r>
              <a:rPr lang="en-US" dirty="0">
                <a:ea typeface="+mj-lt"/>
                <a:cs typeface="+mj-lt"/>
              </a:rPr>
              <a:t>: </a:t>
            </a:r>
            <a:r>
              <a:rPr lang="en-US" dirty="0" err="1">
                <a:ea typeface="+mj-lt"/>
                <a:cs typeface="+mj-lt"/>
              </a:rPr>
              <a:t>dodatkowa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motywacja</a:t>
            </a:r>
            <a:r>
              <a:rPr lang="en-US" dirty="0">
                <a:ea typeface="+mj-lt"/>
                <a:cs typeface="+mj-lt"/>
              </a:rPr>
              <a:t> do </a:t>
            </a:r>
            <a:r>
              <a:rPr lang="en-US" dirty="0" err="1">
                <a:ea typeface="+mj-lt"/>
                <a:cs typeface="+mj-lt"/>
              </a:rPr>
              <a:t>eksplorowania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gry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marL="342900" indent="-342900">
              <a:buChar char="•"/>
            </a:pPr>
            <a:r>
              <a:rPr lang="en-US" dirty="0" err="1">
                <a:ea typeface="+mj-lt"/>
                <a:cs typeface="+mj-lt"/>
              </a:rPr>
              <a:t>Personalizacja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wyglądu</a:t>
            </a:r>
            <a:r>
              <a:rPr lang="en-US" dirty="0">
                <a:ea typeface="+mj-lt"/>
                <a:cs typeface="+mj-lt"/>
              </a:rPr>
              <a:t>: </a:t>
            </a:r>
            <a:r>
              <a:rPr lang="en-US" dirty="0" err="1">
                <a:ea typeface="+mj-lt"/>
                <a:cs typeface="+mj-lt"/>
              </a:rPr>
              <a:t>kosmetyczne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dostosowanie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postaci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lub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otoczenia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marL="342900" indent="-342900">
              <a:buChar char="•"/>
            </a:pPr>
            <a:r>
              <a:rPr lang="en-US" dirty="0" err="1">
                <a:ea typeface="+mj-lt"/>
                <a:cs typeface="+mj-lt"/>
              </a:rPr>
              <a:t>Wybór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postaci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lub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stylu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gry</a:t>
            </a:r>
            <a:r>
              <a:rPr lang="en-US" dirty="0">
                <a:ea typeface="+mj-lt"/>
                <a:cs typeface="+mj-lt"/>
              </a:rPr>
              <a:t>: </a:t>
            </a:r>
            <a:r>
              <a:rPr lang="en-US" dirty="0" err="1">
                <a:ea typeface="+mj-lt"/>
                <a:cs typeface="+mj-lt"/>
              </a:rPr>
              <a:t>różne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warianty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rozpoczęcia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rozgrywki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marL="342900" indent="-342900">
              <a:buChar char="•"/>
            </a:pPr>
            <a:r>
              <a:rPr lang="en-US" dirty="0" err="1">
                <a:ea typeface="+mj-lt"/>
                <a:cs typeface="+mj-lt"/>
              </a:rPr>
              <a:t>Miejsca</a:t>
            </a:r>
            <a:r>
              <a:rPr lang="en-US" dirty="0">
                <a:ea typeface="+mj-lt"/>
                <a:cs typeface="+mj-lt"/>
              </a:rPr>
              <a:t> z </a:t>
            </a:r>
            <a:r>
              <a:rPr lang="en-US" dirty="0" err="1">
                <a:ea typeface="+mj-lt"/>
                <a:cs typeface="+mj-lt"/>
              </a:rPr>
              <a:t>przedmiotami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dirty="0" err="1">
                <a:ea typeface="+mj-lt"/>
                <a:cs typeface="+mj-lt"/>
              </a:rPr>
              <a:t>jedzeniem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dodatkami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dirty="0" err="1">
                <a:ea typeface="+mj-lt"/>
                <a:cs typeface="+mj-lt"/>
              </a:rPr>
              <a:t>które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wspierają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przetrwanie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zjazdu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dirty="0" err="1">
                <a:ea typeface="+mj-lt"/>
                <a:cs typeface="+mj-lt"/>
              </a:rPr>
              <a:t>podane</a:t>
            </a:r>
            <a:r>
              <a:rPr lang="en-US" dirty="0">
                <a:ea typeface="+mj-lt"/>
                <a:cs typeface="+mj-lt"/>
              </a:rPr>
              <a:t> w </a:t>
            </a:r>
            <a:r>
              <a:rPr lang="en-US" dirty="0" err="1">
                <a:ea typeface="+mj-lt"/>
                <a:cs typeface="+mj-lt"/>
              </a:rPr>
              <a:t>humorystycznej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formie</a:t>
            </a:r>
            <a:r>
              <a:rPr lang="en-US" dirty="0">
                <a:ea typeface="+mj-lt"/>
                <a:cs typeface="+mj-lt"/>
              </a:rPr>
              <a:t> (np. </a:t>
            </a:r>
            <a:r>
              <a:rPr lang="en-US" dirty="0" err="1">
                <a:ea typeface="+mj-lt"/>
                <a:cs typeface="+mj-lt"/>
              </a:rPr>
              <a:t>strefa</a:t>
            </a:r>
            <a:r>
              <a:rPr lang="en-US" dirty="0">
                <a:ea typeface="+mj-lt"/>
                <a:cs typeface="+mj-lt"/>
              </a:rPr>
              <a:t> chill).</a:t>
            </a:r>
            <a:endParaRPr lang="en-US"/>
          </a:p>
          <a:p>
            <a:pPr marL="342900" indent="-342900">
              <a:buChar char="•"/>
            </a:pPr>
            <a:r>
              <a:rPr lang="en-US" dirty="0" err="1">
                <a:ea typeface="+mj-lt"/>
                <a:cs typeface="+mj-lt"/>
              </a:rPr>
              <a:t>Tryb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treningowy</a:t>
            </a:r>
            <a:r>
              <a:rPr lang="en-US" dirty="0">
                <a:ea typeface="+mj-lt"/>
                <a:cs typeface="+mj-lt"/>
              </a:rPr>
              <a:t> bez </a:t>
            </a:r>
            <a:r>
              <a:rPr lang="en-US" dirty="0" err="1">
                <a:ea typeface="+mj-lt"/>
                <a:cs typeface="+mj-lt"/>
              </a:rPr>
              <a:t>rankingu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czasu</a:t>
            </a:r>
            <a:r>
              <a:rPr lang="en-US" dirty="0">
                <a:ea typeface="+mj-lt"/>
                <a:cs typeface="+mj-lt"/>
              </a:rPr>
              <a:t>: </a:t>
            </a:r>
            <a:r>
              <a:rPr lang="en-US" dirty="0" err="1">
                <a:ea typeface="+mj-lt"/>
                <a:cs typeface="+mj-lt"/>
              </a:rPr>
              <a:t>swobodna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rozgrywka</a:t>
            </a:r>
            <a:r>
              <a:rPr lang="en-US" dirty="0">
                <a:ea typeface="+mj-lt"/>
                <a:cs typeface="+mj-lt"/>
              </a:rPr>
              <a:t> do </a:t>
            </a:r>
            <a:r>
              <a:rPr lang="en-US" dirty="0" err="1">
                <a:ea typeface="+mj-lt"/>
                <a:cs typeface="+mj-lt"/>
              </a:rPr>
              <a:t>nauki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mechanik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testowania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strategii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53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A87EA-8BB3-79C6-656A-1A8ABD658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55" y="1011935"/>
            <a:ext cx="10963269" cy="1112153"/>
          </a:xfrm>
        </p:spPr>
        <p:txBody>
          <a:bodyPr/>
          <a:lstStyle/>
          <a:p>
            <a:r>
              <a:rPr lang="en-US"/>
              <a:t>PROPONOWANE TECHNOLOGIE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DF94A-DA27-1E29-408E-F5360E814FB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2461" y="2274809"/>
            <a:ext cx="8343848" cy="372680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ea typeface="+mn-lt"/>
                <a:cs typeface="+mn-lt"/>
              </a:rPr>
              <a:t>Unity - </a:t>
            </a:r>
            <a:r>
              <a:rPr lang="en-US" sz="2400" b="1" err="1">
                <a:solidFill>
                  <a:srgbClr val="FFFFFF"/>
                </a:solidFill>
                <a:ea typeface="+mn-lt"/>
                <a:cs typeface="+mn-lt"/>
              </a:rPr>
              <a:t>silnik</a:t>
            </a:r>
            <a:r>
              <a:rPr lang="en-US" sz="2400" b="1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400" b="1">
                <a:solidFill>
                  <a:srgbClr val="FFFFFF"/>
                </a:solidFill>
                <a:ea typeface="+mn-lt"/>
                <a:cs typeface="+mn-lt"/>
              </a:rPr>
              <a:t>gry</a:t>
            </a:r>
            <a:endParaRPr lang="en-US" sz="2400" b="1"/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ea typeface="+mn-lt"/>
                <a:cs typeface="+mn-lt"/>
              </a:rPr>
              <a:t>C# - </a:t>
            </a:r>
            <a:r>
              <a:rPr lang="en-US" sz="2400" b="1" err="1">
                <a:solidFill>
                  <a:srgbClr val="FFFFFF"/>
                </a:solidFill>
                <a:ea typeface="+mn-lt"/>
                <a:cs typeface="+mn-lt"/>
              </a:rPr>
              <a:t>język</a:t>
            </a:r>
            <a:r>
              <a:rPr lang="en-US" sz="2400" b="1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400" b="1">
                <a:solidFill>
                  <a:srgbClr val="FFFFFF"/>
                </a:solidFill>
                <a:ea typeface="+mn-lt"/>
                <a:cs typeface="+mn-lt"/>
              </a:rPr>
              <a:t>programowania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ea typeface="+mn-lt"/>
                <a:cs typeface="+mn-lt"/>
              </a:rPr>
              <a:t>Git - </a:t>
            </a:r>
            <a:r>
              <a:rPr lang="en-US" sz="2400" b="1" err="1">
                <a:solidFill>
                  <a:srgbClr val="FFFFFF"/>
                </a:solidFill>
                <a:ea typeface="+mn-lt"/>
                <a:cs typeface="+mn-lt"/>
              </a:rPr>
              <a:t>kontrola</a:t>
            </a:r>
            <a:r>
              <a:rPr lang="en-US" sz="2400" b="1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400" b="1">
                <a:solidFill>
                  <a:srgbClr val="FFFFFF"/>
                </a:solidFill>
                <a:ea typeface="+mn-lt"/>
                <a:cs typeface="+mn-lt"/>
              </a:rPr>
              <a:t>wersji</a:t>
            </a:r>
            <a:endParaRPr lang="en-US" sz="2400" b="1"/>
          </a:p>
          <a:p>
            <a:pPr>
              <a:lnSpc>
                <a:spcPct val="150000"/>
              </a:lnSpc>
            </a:pPr>
            <a:r>
              <a:rPr lang="en-US" sz="2400" b="1" err="1">
                <a:solidFill>
                  <a:srgbClr val="FFFFFF"/>
                </a:solidFill>
                <a:ea typeface="+mn-lt"/>
                <a:cs typeface="+mn-lt"/>
              </a:rPr>
              <a:t>Aseprite</a:t>
            </a:r>
            <a:r>
              <a:rPr lang="en-US" sz="2400" b="1" dirty="0">
                <a:solidFill>
                  <a:srgbClr val="FFFFFF"/>
                </a:solidFill>
                <a:ea typeface="+mn-lt"/>
                <a:cs typeface="+mn-lt"/>
              </a:rPr>
              <a:t> - </a:t>
            </a:r>
            <a:r>
              <a:rPr lang="en-US" sz="2400" b="1" err="1">
                <a:solidFill>
                  <a:srgbClr val="FFFFFF"/>
                </a:solidFill>
                <a:ea typeface="+mn-lt"/>
                <a:cs typeface="+mn-lt"/>
              </a:rPr>
              <a:t>przygotowanie</a:t>
            </a:r>
            <a:r>
              <a:rPr lang="en-US" sz="2400" b="1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400" b="1">
                <a:solidFill>
                  <a:srgbClr val="FFFFFF"/>
                </a:solidFill>
                <a:ea typeface="+mn-lt"/>
                <a:cs typeface="+mn-lt"/>
              </a:rPr>
              <a:t>grafiki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ea typeface="+mn-lt"/>
                <a:cs typeface="+mn-lt"/>
              </a:rPr>
              <a:t>[] - </a:t>
            </a:r>
            <a:r>
              <a:rPr lang="en-US" sz="2400" b="1">
                <a:solidFill>
                  <a:srgbClr val="FFFFFF"/>
                </a:solidFill>
                <a:ea typeface="+mn-lt"/>
                <a:cs typeface="+mn-lt"/>
              </a:rPr>
              <a:t>dźwięk</a:t>
            </a:r>
            <a:endParaRPr lang="en-US" sz="2400" b="1"/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ea typeface="+mn-lt"/>
                <a:cs typeface="+mn-lt"/>
              </a:rPr>
              <a:t>GitHub Projects - </a:t>
            </a:r>
            <a:r>
              <a:rPr lang="en-US" sz="2400" b="1" dirty="0" err="1">
                <a:solidFill>
                  <a:srgbClr val="FFFFFF"/>
                </a:solidFill>
                <a:ea typeface="+mn-lt"/>
                <a:cs typeface="+mn-lt"/>
              </a:rPr>
              <a:t>zarządzanie</a:t>
            </a:r>
            <a:r>
              <a:rPr lang="en-US" sz="2400" b="1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ea typeface="+mn-lt"/>
                <a:cs typeface="+mn-lt"/>
              </a:rPr>
              <a:t>zadaniami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</p:sld>
</file>

<file path=ppt/theme/theme1.xml><?xml version="1.0" encoding="utf-8"?>
<a:theme xmlns:a="http://schemas.openxmlformats.org/drawingml/2006/main" name="BoldUnderlinesKeynote">
  <a:themeElements>
    <a:clrScheme name="NB - Keynote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003A41"/>
      </a:accent1>
      <a:accent2>
        <a:srgbClr val="ECEBE3"/>
      </a:accent2>
      <a:accent3>
        <a:srgbClr val="400023"/>
      </a:accent3>
      <a:accent4>
        <a:srgbClr val="68989E"/>
      </a:accent4>
      <a:accent5>
        <a:srgbClr val="BFB360"/>
      </a:accent5>
      <a:accent6>
        <a:srgbClr val="BF6093"/>
      </a:accent6>
      <a:hlink>
        <a:srgbClr val="169C9A"/>
      </a:hlink>
      <a:folHlink>
        <a:srgbClr val="E15C3D"/>
      </a:folHlink>
    </a:clrScheme>
    <a:fontScheme name="Custom 9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ld underlines keynote presentation _win32_DN_v2" id="{E18D5B16-117C-46FD-8B97-39D77F728B32}" vid="{93298573-99F9-4CB3-90C8-DB41313B57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236</Words>
  <Application>Microsoft Office PowerPoint</Application>
  <PresentationFormat>Widescreen</PresentationFormat>
  <Paragraphs>37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BoldUnderlinesKeynote</vt:lpstr>
      <vt:lpstr>Gra komputerowa The Zjazd</vt:lpstr>
      <vt:lpstr>Skład Grupy</vt:lpstr>
      <vt:lpstr>Wycinek rzeczywistoŚCi </vt:lpstr>
      <vt:lpstr>PowerPoint Presentation</vt:lpstr>
      <vt:lpstr>Quote</vt:lpstr>
      <vt:lpstr>Cechy zamawianego produktu</vt:lpstr>
      <vt:lpstr>Funkcjonalności główne: </vt:lpstr>
      <vt:lpstr>Funkcjonalności dodatkowe: </vt:lpstr>
      <vt:lpstr>Funkcjonalności opcjonalne:</vt:lpstr>
      <vt:lpstr>PROPONOWANE TECHNOLOGIE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354</cp:revision>
  <dcterms:created xsi:type="dcterms:W3CDTF">2026-10-09T18:22:28Z</dcterms:created>
  <dcterms:modified xsi:type="dcterms:W3CDTF">2026-10-09T19:57:50Z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