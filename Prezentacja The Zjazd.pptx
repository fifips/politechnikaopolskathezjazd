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5"/>
  </p:notesMasterIdLst>
  <p:handoutMasterIdLst>
    <p:handoutMasterId r:id="rId16"/>
  </p:handoutMasterIdLst>
  <p:sldIdLst>
    <p:sldId id="1519" r:id="rId5"/>
    <p:sldId id="1520" r:id="rId6"/>
    <p:sldId id="1499" r:id="rId7"/>
    <p:sldId id="1515" r:id="rId8"/>
    <p:sldId id="1521" r:id="rId9"/>
    <p:sldId id="1524" r:id="rId10"/>
    <p:sldId id="1502" r:id="rId11"/>
    <p:sldId id="1517" r:id="rId12"/>
    <p:sldId id="1511" r:id="rId13"/>
    <p:sldId id="151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4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143" dt="2026-10-09T19:57:48.786"/>
    <p1510:client id="{466AE8A5-FDE5-E5D0-6776-2632FD665025}" v="114" dt="2026-10-09T18:27:47.584"/>
    <p1510:client id="{4E21983B-EE1D-E4E6-362E-971FB436FA99}" v="7" dt="2026-10-09T20:28:28.542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26" autoAdjust="0"/>
    <p:restoredTop sz="94618"/>
  </p:normalViewPr>
  <p:slideViewPr>
    <p:cSldViewPr snapToGrid="0">
      <p:cViewPr>
        <p:scale>
          <a:sx n="100" d="100"/>
          <a:sy n="100" d="100"/>
        </p:scale>
        <p:origin x="-1190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490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10/9/2026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702878" cy="5588001"/>
          </a:xfrm>
        </p:spPr>
        <p:txBody>
          <a:bodyPr/>
          <a:lstStyle/>
          <a:p>
            <a:r>
              <a:rPr lang="en-US" sz="5400" b="0" u="none" dirty="0"/>
              <a:t>Gra </a:t>
            </a:r>
            <a:r>
              <a:rPr lang="en-US" sz="5400" b="0" u="none" dirty="0" err="1"/>
              <a:t>komputerowa</a:t>
            </a:r>
            <a:br>
              <a:rPr lang="en-US" dirty="0"/>
            </a:br>
            <a:r>
              <a:rPr lang="en-US" dirty="0"/>
              <a:t>The </a:t>
            </a:r>
            <a:r>
              <a:rPr lang="en-US" dirty="0" err="1"/>
              <a:t>Zjazd</a:t>
            </a:r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Grupa A</a:t>
            </a:r>
            <a:br>
              <a:rPr lang="en-US" dirty="0"/>
            </a:br>
            <a:r>
              <a:rPr lang="en-US" dirty="0" err="1"/>
              <a:t>Zajęcia</a:t>
            </a:r>
            <a:r>
              <a:rPr lang="en-US" dirty="0"/>
              <a:t> nr. 2</a:t>
            </a:r>
            <a:br>
              <a:rPr lang="en-US" dirty="0"/>
            </a:br>
            <a:r>
              <a:rPr lang="en-US" dirty="0"/>
              <a:t>10.10.2026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9519-237E-F154-0775-DC5A3CDF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-311733"/>
            <a:ext cx="3185992" cy="3585888"/>
          </a:xfrm>
        </p:spPr>
        <p:txBody>
          <a:bodyPr/>
          <a:lstStyle/>
          <a:p>
            <a:r>
              <a:rPr lang="en-US" dirty="0" err="1"/>
              <a:t>Skład</a:t>
            </a:r>
            <a:r>
              <a:rPr lang="en-US" dirty="0"/>
              <a:t> </a:t>
            </a:r>
            <a:r>
              <a:rPr lang="en-US" dirty="0" err="1"/>
              <a:t>Grupy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ACC6B-C7FD-0935-2022-57CCC9D64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274690"/>
            <a:ext cx="5652464" cy="222695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sz="2000" b="1" dirty="0">
              <a:latin typeface="Aptos"/>
            </a:endParaRPr>
          </a:p>
          <a:p>
            <a:pPr marL="320040"/>
            <a:r>
              <a:rPr lang="en-US" sz="2000" b="1"/>
              <a:t>Oliwia Tomala - Product Owner/Team Member</a:t>
            </a:r>
            <a:endParaRPr lang="en-US" sz="2000" b="1" dirty="0"/>
          </a:p>
          <a:p>
            <a:pPr marL="320040"/>
            <a:r>
              <a:rPr lang="en-US" sz="2000" b="1" dirty="0"/>
              <a:t>Piotrek </a:t>
            </a:r>
            <a:r>
              <a:rPr lang="en-US" sz="2000" b="1" dirty="0" err="1"/>
              <a:t>Gnacy</a:t>
            </a:r>
            <a:r>
              <a:rPr lang="en-US" sz="2000" b="1" dirty="0"/>
              <a:t> - Scrum Master/Team Member</a:t>
            </a:r>
            <a:endParaRPr lang="en-US" sz="2000" dirty="0"/>
          </a:p>
          <a:p>
            <a:pPr marL="320040"/>
            <a:r>
              <a:rPr lang="en-US" sz="2000" b="1" dirty="0"/>
              <a:t>Agata </a:t>
            </a:r>
            <a:r>
              <a:rPr lang="en-US" sz="2000" b="1" dirty="0" err="1"/>
              <a:t>Wodecka-Barejko</a:t>
            </a:r>
            <a:r>
              <a:rPr lang="en-US" sz="2000" b="1" dirty="0"/>
              <a:t> - Team Member</a:t>
            </a:r>
            <a:endParaRPr lang="en-US" sz="2000" dirty="0"/>
          </a:p>
          <a:p>
            <a:pPr marL="320040"/>
            <a:r>
              <a:rPr lang="en-US" sz="2000" b="1"/>
              <a:t>Arek Moskal - Team Member</a:t>
            </a:r>
            <a:endParaRPr lang="en-US" sz="2000" b="1" dirty="0"/>
          </a:p>
          <a:p>
            <a:pPr marL="320040"/>
            <a:r>
              <a:rPr lang="en-US" sz="2000" b="1" dirty="0"/>
              <a:t>Filip </a:t>
            </a:r>
            <a:r>
              <a:rPr lang="en-US" sz="2000" b="1" dirty="0" err="1"/>
              <a:t>Spychała</a:t>
            </a:r>
            <a:r>
              <a:rPr lang="en-US" sz="2000" b="1" dirty="0"/>
              <a:t> - Team Member</a:t>
            </a:r>
          </a:p>
        </p:txBody>
      </p:sp>
      <p:pic>
        <p:nvPicPr>
          <p:cNvPr id="10" name="Picture Placeholder 9" descr="Osoby patrząc na laptopa">
            <a:extLst>
              <a:ext uri="{FF2B5EF4-FFF2-40B4-BE49-F238E27FC236}">
                <a16:creationId xmlns:a16="http://schemas.microsoft.com/office/drawing/2014/main" id="{B252F4F5-0329-8056-5431-FB2A9E334CE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1910" r="21910"/>
          <a:stretch/>
        </p:blipFill>
        <p:spPr>
          <a:xfrm>
            <a:off x="7284255" y="630936"/>
            <a:ext cx="4273710" cy="5592064"/>
          </a:xfrm>
        </p:spPr>
      </p:pic>
    </p:spTree>
    <p:extLst>
      <p:ext uri="{BB962C8B-B14F-4D97-AF65-F5344CB8AC3E}">
        <p14:creationId xmlns:p14="http://schemas.microsoft.com/office/powerpoint/2010/main" val="36645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108" y="437834"/>
            <a:ext cx="7538425" cy="20970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Wycinek </a:t>
            </a:r>
            <a:r>
              <a:rPr lang="en-US" dirty="0" err="1"/>
              <a:t>rzeczywistoŚCi</a:t>
            </a:r>
            <a:br>
              <a:rPr lang="en-US" dirty="0"/>
            </a:b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BBDA0-156C-7A5D-0B91-1441CED289AF}"/>
              </a:ext>
            </a:extLst>
          </p:cNvPr>
          <p:cNvSpPr txBox="1"/>
          <p:nvPr/>
        </p:nvSpPr>
        <p:spPr>
          <a:xfrm>
            <a:off x="510807" y="2306052"/>
            <a:ext cx="9845708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Gra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przygodowa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"The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Zjazd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"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pozwala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wcielić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się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postać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osoby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studiującej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na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Politechnice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Opolskiej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.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Eksplorując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zawiłe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budynki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napotyka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się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różne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postacie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przedmioty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I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zadania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które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 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ułatwiają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lub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utrudniają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przeżycie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weekendowego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8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8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800" b="1" dirty="0">
              <a:solidFill>
                <a:srgbClr val="003A41"/>
              </a:solidFill>
            </a:endParaRPr>
          </a:p>
          <a:p>
            <a:endParaRPr lang="en-US" sz="2800" b="1" dirty="0">
              <a:solidFill>
                <a:srgbClr val="003A41"/>
              </a:solidFill>
            </a:endParaRPr>
          </a:p>
          <a:p>
            <a:r>
              <a:rPr lang="en-US" sz="2800" b="1" dirty="0">
                <a:solidFill>
                  <a:srgbClr val="003A41"/>
                </a:solidFill>
              </a:rPr>
              <a:t>Jest to </a:t>
            </a:r>
            <a:r>
              <a:rPr lang="en-US" sz="2800" b="1" dirty="0" err="1">
                <a:solidFill>
                  <a:srgbClr val="003A41"/>
                </a:solidFill>
              </a:rPr>
              <a:t>świetna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propozycja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dla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graczy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głodnych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wyzwań</a:t>
            </a:r>
            <a:r>
              <a:rPr lang="en-US" sz="2800" b="1" dirty="0">
                <a:solidFill>
                  <a:srgbClr val="003A41"/>
                </a:solidFill>
              </a:rPr>
              <a:t> I </a:t>
            </a:r>
            <a:r>
              <a:rPr lang="en-US" sz="2800" b="1" dirty="0" err="1">
                <a:solidFill>
                  <a:srgbClr val="003A41"/>
                </a:solidFill>
              </a:rPr>
              <a:t>przygody</a:t>
            </a:r>
            <a:r>
              <a:rPr lang="en-US" sz="2800" b="1" dirty="0">
                <a:solidFill>
                  <a:srgbClr val="003A41"/>
                </a:solidFill>
              </a:rPr>
              <a:t>. </a:t>
            </a:r>
            <a:r>
              <a:rPr lang="en-US" sz="2800" b="1" dirty="0" err="1">
                <a:solidFill>
                  <a:srgbClr val="003A41"/>
                </a:solidFill>
              </a:rPr>
              <a:t>Otwarty</a:t>
            </a:r>
            <a:r>
              <a:rPr lang="en-US" sz="2800" b="1" dirty="0">
                <a:solidFill>
                  <a:srgbClr val="003A41"/>
                </a:solidFill>
              </a:rPr>
              <a:t> I </a:t>
            </a:r>
            <a:r>
              <a:rPr lang="en-US" sz="2800" b="1" dirty="0" err="1">
                <a:solidFill>
                  <a:srgbClr val="003A41"/>
                </a:solidFill>
              </a:rPr>
              <a:t>bogaty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świat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kampusu</a:t>
            </a:r>
            <a:r>
              <a:rPr lang="en-US" sz="2800" b="1" dirty="0">
                <a:solidFill>
                  <a:srgbClr val="003A41"/>
                </a:solidFill>
              </a:rPr>
              <a:t> </a:t>
            </a:r>
            <a:r>
              <a:rPr lang="en-US" sz="2800" b="1" dirty="0" err="1">
                <a:solidFill>
                  <a:srgbClr val="003A41"/>
                </a:solidFill>
              </a:rPr>
              <a:t>zapewni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rozrywkę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na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wiele</a:t>
            </a:r>
            <a:r>
              <a:rPr lang="en-US" sz="2800" b="1" dirty="0">
                <a:solidFill>
                  <a:srgbClr val="003A41"/>
                </a:solidFill>
              </a:rPr>
              <a:t> </a:t>
            </a:r>
            <a:r>
              <a:rPr lang="en-US" sz="2800" b="1" dirty="0" err="1">
                <a:solidFill>
                  <a:srgbClr val="003A41"/>
                </a:solidFill>
              </a:rPr>
              <a:t>godzin</a:t>
            </a:r>
            <a:r>
              <a:rPr lang="en-US" sz="2800" b="1" dirty="0">
                <a:solidFill>
                  <a:srgbClr val="003A41"/>
                </a:solidFill>
              </a:rPr>
              <a:t>.</a:t>
            </a:r>
          </a:p>
          <a:p>
            <a:endParaRPr lang="en-US" dirty="0">
              <a:solidFill>
                <a:srgbClr val="003A4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AA463-F531-1FC1-6826-167C367BDD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1040964"/>
            <a:ext cx="9409775" cy="580542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6000" b="1">
                <a:solidFill>
                  <a:srgbClr val="FFFFFF"/>
                </a:solidFill>
              </a:rPr>
              <a:t>ZAMAWIANY PRODUKT</a:t>
            </a:r>
            <a:endParaRPr lang="en-US" sz="6000" b="1"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CD53E-A218-E55C-40C9-3CEC88BF742C}"/>
              </a:ext>
            </a:extLst>
          </p:cNvPr>
          <p:cNvSpPr txBox="1"/>
          <p:nvPr/>
        </p:nvSpPr>
        <p:spPr>
          <a:xfrm>
            <a:off x="630187" y="2295892"/>
            <a:ext cx="10134065" cy="39136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 err="1"/>
              <a:t>Przedmiotem</a:t>
            </a:r>
            <a:r>
              <a:rPr lang="en-US" sz="2400" b="1" dirty="0"/>
              <a:t> </a:t>
            </a:r>
            <a:r>
              <a:rPr lang="en-US" sz="2400" b="1" dirty="0" err="1"/>
              <a:t>projektu</a:t>
            </a:r>
            <a:r>
              <a:rPr lang="en-US" sz="2400" b="1" dirty="0"/>
              <a:t> jest </a:t>
            </a:r>
            <a:r>
              <a:rPr lang="en-US" sz="2400" b="1" dirty="0" err="1"/>
              <a:t>gra</a:t>
            </a:r>
            <a:r>
              <a:rPr lang="en-US" sz="2400" b="1" dirty="0"/>
              <a:t> </a:t>
            </a:r>
            <a:r>
              <a:rPr lang="en-US" sz="2400" b="1" dirty="0" err="1"/>
              <a:t>komputerowa</a:t>
            </a:r>
            <a:r>
              <a:rPr lang="en-US" sz="2400" b="1" dirty="0"/>
              <a:t> „The </a:t>
            </a:r>
            <a:r>
              <a:rPr lang="en-US" sz="2400" b="1" dirty="0" err="1"/>
              <a:t>Zjazd</a:t>
            </a:r>
            <a:r>
              <a:rPr lang="en-US" sz="2400" b="1" dirty="0"/>
              <a:t>”, </a:t>
            </a:r>
            <a:r>
              <a:rPr lang="en-US" sz="2400" b="1" dirty="0" err="1"/>
              <a:t>która</a:t>
            </a:r>
            <a:r>
              <a:rPr lang="en-US" sz="2400" b="1" dirty="0"/>
              <a:t> </a:t>
            </a:r>
            <a:r>
              <a:rPr lang="en-US" sz="2400" b="1" dirty="0" err="1"/>
              <a:t>umożliwi</a:t>
            </a:r>
            <a:r>
              <a:rPr lang="en-US" sz="2400" b="1" dirty="0"/>
              <a:t>:​ ​</a:t>
            </a:r>
            <a:endParaRPr lang="en-US"/>
          </a:p>
          <a:p>
            <a:pPr>
              <a:lnSpc>
                <a:spcPct val="150000"/>
              </a:lnSpc>
            </a:pPr>
            <a:endParaRPr lang="en-US" sz="2400" b="1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Wcielenie</a:t>
            </a:r>
            <a:r>
              <a:rPr lang="en-US" sz="2400" b="1" dirty="0"/>
              <a:t> </a:t>
            </a:r>
            <a:r>
              <a:rPr lang="en-US" sz="2400" b="1" dirty="0" err="1"/>
              <a:t>się</a:t>
            </a:r>
            <a:r>
              <a:rPr lang="en-US" sz="2400" b="1" dirty="0"/>
              <a:t> w </a:t>
            </a:r>
            <a:r>
              <a:rPr lang="en-US" sz="2400" b="1" dirty="0" err="1"/>
              <a:t>postać</a:t>
            </a:r>
            <a:r>
              <a:rPr lang="en-US" sz="2400" b="1" dirty="0"/>
              <a:t> </a:t>
            </a:r>
            <a:r>
              <a:rPr lang="en-US" sz="2400" b="1" dirty="0" err="1"/>
              <a:t>studenta</a:t>
            </a:r>
            <a:r>
              <a:rPr lang="en-US" sz="2400" b="1" dirty="0"/>
              <a:t> </a:t>
            </a:r>
            <a:r>
              <a:rPr lang="en-US" sz="2400" b="1" dirty="0" err="1"/>
              <a:t>Politechniki</a:t>
            </a:r>
            <a:r>
              <a:rPr lang="en-US" sz="2400" b="1" dirty="0"/>
              <a:t> </a:t>
            </a:r>
            <a:r>
              <a:rPr lang="en-US" sz="2400" b="1" dirty="0" err="1"/>
              <a:t>Opolskiej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Eksplorację</a:t>
            </a:r>
            <a:r>
              <a:rPr lang="en-US" sz="2400" b="1" dirty="0"/>
              <a:t> </a:t>
            </a:r>
            <a:r>
              <a:rPr lang="en-US" sz="2400" b="1" dirty="0" err="1"/>
              <a:t>lokacji</a:t>
            </a:r>
            <a:r>
              <a:rPr lang="en-US" sz="2400" b="1" dirty="0"/>
              <a:t> </a:t>
            </a:r>
            <a:r>
              <a:rPr lang="en-US" sz="2400" b="1" dirty="0" err="1"/>
              <a:t>inspirowanych</a:t>
            </a:r>
            <a:r>
              <a:rPr lang="en-US" sz="2400" b="1" dirty="0"/>
              <a:t> </a:t>
            </a:r>
            <a:r>
              <a:rPr lang="en-US" sz="2400" b="1" dirty="0" err="1"/>
              <a:t>budynkami</a:t>
            </a:r>
            <a:r>
              <a:rPr lang="en-US" sz="2400" b="1" dirty="0"/>
              <a:t> </a:t>
            </a:r>
            <a:r>
              <a:rPr lang="en-US" sz="2400" b="1" dirty="0" err="1"/>
              <a:t>uczelni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Rozwiązywanie</a:t>
            </a:r>
            <a:r>
              <a:rPr lang="en-US" sz="2400" b="1" dirty="0"/>
              <a:t> </a:t>
            </a:r>
            <a:r>
              <a:rPr lang="en-US" sz="2400" b="1" dirty="0" err="1"/>
              <a:t>zadań</a:t>
            </a:r>
            <a:r>
              <a:rPr lang="en-US" sz="2400" b="1" dirty="0"/>
              <a:t> I </a:t>
            </a:r>
            <a:r>
              <a:rPr lang="en-US" sz="2400" b="1" dirty="0" err="1"/>
              <a:t>łamigłówek</a:t>
            </a:r>
            <a:r>
              <a:rPr lang="en-US" sz="2400" b="1" dirty="0"/>
              <a:t> </a:t>
            </a:r>
            <a:r>
              <a:rPr lang="en-US" sz="2400" b="1" dirty="0" err="1"/>
              <a:t>związanych</a:t>
            </a:r>
            <a:r>
              <a:rPr lang="en-US" sz="2400" b="1" dirty="0"/>
              <a:t> z </a:t>
            </a:r>
            <a:r>
              <a:rPr lang="en-US" sz="2400" b="1" dirty="0" err="1"/>
              <a:t>kierunkiem</a:t>
            </a:r>
            <a:r>
              <a:rPr lang="en-US" sz="2400" b="1" dirty="0"/>
              <a:t> </a:t>
            </a:r>
            <a:r>
              <a:rPr lang="en-US" sz="2400" b="1" dirty="0" err="1"/>
              <a:t>studiów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Interakcja</a:t>
            </a:r>
            <a:r>
              <a:rPr lang="en-US" sz="2400" b="1" dirty="0"/>
              <a:t> z </a:t>
            </a:r>
            <a:r>
              <a:rPr lang="en-US" sz="2400" b="1" dirty="0" err="1"/>
              <a:t>innymi</a:t>
            </a:r>
            <a:r>
              <a:rPr lang="en-US" sz="2400" b="1" dirty="0"/>
              <a:t> </a:t>
            </a:r>
            <a:r>
              <a:rPr lang="en-US" sz="2400" b="1" dirty="0" err="1"/>
              <a:t>postaciami</a:t>
            </a:r>
            <a:r>
              <a:rPr lang="en-US" sz="2400" b="1" dirty="0"/>
              <a:t> ​ ​ 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/>
              <a:t>Przetrwanie</a:t>
            </a:r>
            <a:r>
              <a:rPr lang="en-US" sz="2400" b="1" dirty="0"/>
              <a:t> </a:t>
            </a:r>
            <a:r>
              <a:rPr lang="en-US" sz="2400" b="1" dirty="0" err="1"/>
              <a:t>weekendowego</a:t>
            </a:r>
            <a:r>
              <a:rPr lang="en-US" sz="2400" b="1" dirty="0"/>
              <a:t> </a:t>
            </a:r>
            <a:r>
              <a:rPr lang="en-US" sz="2400" b="1" dirty="0" err="1"/>
              <a:t>zjazdu</a:t>
            </a:r>
            <a:r>
              <a:rPr lang="en-US" sz="2400" b="1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4085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DDE55-A8FE-FE29-3A72-A5226E307E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1011936"/>
            <a:ext cx="9074511" cy="229514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solidFill>
                  <a:srgbClr val="003A41"/>
                </a:solidFill>
                <a:ea typeface="+mj-lt"/>
                <a:cs typeface="+mj-lt"/>
              </a:rPr>
              <a:t>FUNKCJE ZAMAWIANEGO PRODUKTU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07A4A5-C57C-2E76-7065-29A841FBFA86}"/>
              </a:ext>
            </a:extLst>
          </p:cNvPr>
          <p:cNvSpPr txBox="1"/>
          <p:nvPr/>
        </p:nvSpPr>
        <p:spPr>
          <a:xfrm>
            <a:off x="630454" y="3155750"/>
            <a:ext cx="7529763" cy="2947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Eksploracja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mapy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Zdobywanie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ECTS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Możliwość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rozwoju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postaci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Mechaniki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energii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(kawa,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energetyki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)</a:t>
            </a:r>
            <a:endParaRPr lang="en-US" sz="2400" b="1">
              <a:solidFill>
                <a:srgbClr val="003A4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CF14D7-61EA-208C-88D2-24C91E825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4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5B29-4E45-6F70-804F-B315516D2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746" y="758087"/>
            <a:ext cx="11319547" cy="1691943"/>
          </a:xfrm>
        </p:spPr>
        <p:txBody>
          <a:bodyPr/>
          <a:lstStyle/>
          <a:p>
            <a:r>
              <a:rPr lang="en-US" dirty="0" err="1"/>
              <a:t>Cechy</a:t>
            </a:r>
            <a:r>
              <a:rPr lang="en-US" dirty="0"/>
              <a:t> </a:t>
            </a:r>
            <a:r>
              <a:rPr lang="en-US" dirty="0" err="1"/>
              <a:t>zamawianego</a:t>
            </a:r>
            <a:r>
              <a:rPr lang="en-US" dirty="0"/>
              <a:t> </a:t>
            </a:r>
            <a:r>
              <a:rPr lang="en-US" dirty="0" err="1"/>
              <a:t>produktu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EDC57-B250-944C-B430-81AE4BA042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359" y="2706652"/>
            <a:ext cx="8148645" cy="43322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1" dirty="0" err="1">
                <a:ea typeface="+mn-lt"/>
                <a:cs typeface="+mn-lt"/>
              </a:rPr>
              <a:t>Grafika</a:t>
            </a:r>
            <a:r>
              <a:rPr lang="en-US" sz="2400" b="1" dirty="0">
                <a:ea typeface="+mn-lt"/>
                <a:cs typeface="+mn-lt"/>
              </a:rPr>
              <a:t> 2D z </a:t>
            </a:r>
            <a:r>
              <a:rPr lang="en-US" sz="2400" b="1" dirty="0" err="1">
                <a:ea typeface="+mn-lt"/>
                <a:cs typeface="+mn-lt"/>
              </a:rPr>
              <a:t>widokiem</a:t>
            </a:r>
            <a:r>
              <a:rPr lang="en-US" sz="2400" b="1" dirty="0">
                <a:ea typeface="+mn-lt"/>
                <a:cs typeface="+mn-lt"/>
              </a:rPr>
              <a:t> z </a:t>
            </a:r>
            <a:r>
              <a:rPr lang="en-US" sz="2400" b="1" dirty="0" err="1">
                <a:ea typeface="+mn-lt"/>
                <a:cs typeface="+mn-lt"/>
              </a:rPr>
              <a:t>góry</a:t>
            </a:r>
            <a:endParaRPr lang="en-US" sz="2400" b="1" dirty="0"/>
          </a:p>
          <a:p>
            <a:r>
              <a:rPr lang="en-US" sz="2400" b="1" dirty="0" err="1">
                <a:ea typeface="+mn-lt"/>
                <a:cs typeface="+mn-lt"/>
              </a:rPr>
              <a:t>Intuicyjny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interfejs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użytkownika</a:t>
            </a:r>
            <a:endParaRPr lang="en-US" sz="2400" b="1" dirty="0"/>
          </a:p>
          <a:p>
            <a:r>
              <a:rPr lang="en-US" sz="2400" b="1" dirty="0" err="1">
                <a:ea typeface="+mn-lt"/>
                <a:cs typeface="+mn-lt"/>
              </a:rPr>
              <a:t>Humorystyczna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stylistyka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życia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studenckiego</a:t>
            </a:r>
            <a:endParaRPr lang="en-US" sz="2400" b="1" dirty="0"/>
          </a:p>
          <a:p>
            <a:r>
              <a:rPr lang="en-US" sz="2400" b="1" dirty="0">
                <a:ea typeface="+mn-lt"/>
                <a:cs typeface="+mn-lt"/>
              </a:rPr>
              <a:t>Reset </a:t>
            </a:r>
            <a:r>
              <a:rPr lang="en-US" sz="2400" b="1" dirty="0" err="1">
                <a:ea typeface="+mn-lt"/>
                <a:cs typeface="+mn-lt"/>
              </a:rPr>
              <a:t>gry</a:t>
            </a:r>
            <a:r>
              <a:rPr lang="en-US" sz="2400" b="1" dirty="0">
                <a:ea typeface="+mn-lt"/>
                <a:cs typeface="+mn-lt"/>
              </a:rPr>
              <a:t> z </a:t>
            </a:r>
            <a:r>
              <a:rPr lang="en-US" sz="2400" b="1" dirty="0" err="1">
                <a:ea typeface="+mn-lt"/>
                <a:cs typeface="+mn-lt"/>
              </a:rPr>
              <a:t>każdym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podejściem</a:t>
            </a:r>
            <a:r>
              <a:rPr lang="en-US" sz="2400" b="1" dirty="0">
                <a:ea typeface="+mn-lt"/>
                <a:cs typeface="+mn-lt"/>
              </a:rPr>
              <a:t>, z </a:t>
            </a:r>
            <a:r>
              <a:rPr lang="en-US" sz="2400" b="1" dirty="0" err="1">
                <a:ea typeface="+mn-lt"/>
                <a:cs typeface="+mn-lt"/>
              </a:rPr>
              <a:t>możliwością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zachowania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części</a:t>
            </a:r>
            <a:r>
              <a:rPr lang="en-US" sz="2400" b="1" dirty="0">
                <a:ea typeface="+mn-lt"/>
                <a:cs typeface="+mn-lt"/>
              </a:rPr>
              <a:t> </a:t>
            </a:r>
            <a:r>
              <a:rPr lang="en-US" sz="2400" b="1" dirty="0" err="1">
                <a:ea typeface="+mn-lt"/>
                <a:cs typeface="+mn-lt"/>
              </a:rPr>
              <a:t>ulepszeń</a:t>
            </a:r>
            <a:endParaRPr lang="en-US" sz="2400" b="1" dirty="0"/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4508" y="437834"/>
            <a:ext cx="11114745" cy="14874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Funkcjonalności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 </a:t>
            </a:r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główne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: 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0C975F-2250-5038-EC70-7A184C73BCD9}"/>
              </a:ext>
            </a:extLst>
          </p:cNvPr>
          <p:cNvSpPr txBox="1"/>
          <p:nvPr/>
        </p:nvSpPr>
        <p:spPr>
          <a:xfrm>
            <a:off x="660533" y="1530283"/>
            <a:ext cx="10958762" cy="50250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roguelike w 2D: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przemierzanie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miejsc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uczelni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z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jednym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podejściem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do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przeżycia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całego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System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zadań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ECTS: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wykonywanie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zadań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jako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główny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sposób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  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postępu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zdobywania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punktów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Ranking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graczy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porównywanie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wyników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rywalizacja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o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najlepszą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pozycję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Struktura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weekendowego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podzielona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na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etapy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odpowiadające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czasowi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zjazdu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z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warunkami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przetrwania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.</a:t>
            </a:r>
            <a:endParaRPr lang="en-US" sz="2400" b="1">
              <a:solidFill>
                <a:srgbClr val="003A41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Postęp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trakcie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podejścia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: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rozwój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postaci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w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czasie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rozgrywki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 (np.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umiejętności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wyposażenie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, </a:t>
            </a:r>
            <a:r>
              <a:rPr lang="en-US" sz="2400" b="1" dirty="0" err="1">
                <a:solidFill>
                  <a:srgbClr val="003A41"/>
                </a:solidFill>
                <a:ea typeface="+mn-lt"/>
                <a:cs typeface="+mn-lt"/>
              </a:rPr>
              <a:t>zasoby</a:t>
            </a:r>
            <a:r>
              <a:rPr lang="en-US" sz="2400" b="1" dirty="0">
                <a:solidFill>
                  <a:srgbClr val="003A41"/>
                </a:solidFill>
                <a:ea typeface="+mn-lt"/>
                <a:cs typeface="+mn-lt"/>
              </a:rPr>
              <a:t>).</a:t>
            </a:r>
            <a:endParaRPr lang="en-US" sz="2400" b="1">
              <a:solidFill>
                <a:srgbClr val="003A4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6960-6EB7-5543-D7E2-21C56C333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300674"/>
            <a:ext cx="11350655" cy="1127760"/>
          </a:xfrm>
        </p:spPr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Funkcjonalności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dodatkowe</a:t>
            </a:r>
            <a:r>
              <a:rPr lang="en-US" dirty="0">
                <a:ea typeface="+mj-lt"/>
                <a:cs typeface="+mj-lt"/>
              </a:rPr>
              <a:t>: 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84BB3-E2D0-78D9-03EE-526422E80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b="1" dirty="0" err="1">
                <a:ea typeface="+mn-lt"/>
                <a:cs typeface="+mn-lt"/>
              </a:rPr>
              <a:t>Zróżnicowane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typy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zadań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różne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formy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wyzwań</a:t>
            </a:r>
            <a:r>
              <a:rPr lang="en-US" b="1" dirty="0">
                <a:ea typeface="+mn-lt"/>
                <a:cs typeface="+mn-lt"/>
              </a:rPr>
              <a:t>, aby </a:t>
            </a:r>
            <a:r>
              <a:rPr lang="en-US" b="1" dirty="0" err="1">
                <a:ea typeface="+mn-lt"/>
                <a:cs typeface="+mn-lt"/>
              </a:rPr>
              <a:t>rozgrywka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była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monotonna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Zdarzenia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przeszkody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losowe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sytuacje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wpływające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przebieg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zjazdu</a:t>
            </a:r>
            <a:r>
              <a:rPr lang="en-US" b="1" dirty="0">
                <a:ea typeface="+mn-lt"/>
                <a:cs typeface="+mn-lt"/>
              </a:rPr>
              <a:t>, </a:t>
            </a:r>
            <a:r>
              <a:rPr lang="en-US" b="1" dirty="0" err="1">
                <a:ea typeface="+mn-lt"/>
                <a:cs typeface="+mn-lt"/>
              </a:rPr>
              <a:t>utrudniające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lub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ułatwiające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grę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Postęp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między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podejściami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stałe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odblokowania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lub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ulepszenia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zachęcające</a:t>
            </a:r>
            <a:r>
              <a:rPr lang="en-US" b="1" dirty="0">
                <a:ea typeface="+mn-lt"/>
                <a:cs typeface="+mn-lt"/>
              </a:rPr>
              <a:t> do </a:t>
            </a:r>
            <a:r>
              <a:rPr lang="en-US" b="1" dirty="0" err="1">
                <a:ea typeface="+mn-lt"/>
                <a:cs typeface="+mn-lt"/>
              </a:rPr>
              <a:t>ponownych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prób</a:t>
            </a:r>
            <a:r>
              <a:rPr lang="en-US" b="1" dirty="0">
                <a:ea typeface="+mn-lt"/>
                <a:cs typeface="+mn-lt"/>
              </a:rPr>
              <a:t>/</a:t>
            </a:r>
            <a:r>
              <a:rPr lang="en-US" b="1" dirty="0" err="1">
                <a:ea typeface="+mn-lt"/>
                <a:cs typeface="+mn-lt"/>
              </a:rPr>
              <a:t>pozwalające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osiągać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lepsze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wyniki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rankingu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>
                <a:ea typeface="+mn-lt"/>
                <a:cs typeface="+mn-lt"/>
              </a:rPr>
              <a:t>Ścieżka </a:t>
            </a:r>
            <a:r>
              <a:rPr lang="en-US" b="1" dirty="0" err="1">
                <a:ea typeface="+mn-lt"/>
                <a:cs typeface="+mn-lt"/>
              </a:rPr>
              <a:t>dźwiękowa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efekty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wzmacniające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klimat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rozbudowana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oprawa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muzyczna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dźwiękowa</a:t>
            </a:r>
            <a:r>
              <a:rPr lang="en-US" b="1" dirty="0">
                <a:ea typeface="+mn-lt"/>
                <a:cs typeface="+mn-lt"/>
              </a:rPr>
              <a:t>, w </a:t>
            </a:r>
            <a:r>
              <a:rPr lang="en-US" b="1" dirty="0" err="1">
                <a:ea typeface="+mn-lt"/>
                <a:cs typeface="+mn-lt"/>
              </a:rPr>
              <a:t>tym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zmienna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muzyka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zależna</a:t>
            </a:r>
            <a:r>
              <a:rPr lang="en-US" b="1" dirty="0">
                <a:ea typeface="+mn-lt"/>
                <a:cs typeface="+mn-lt"/>
              </a:rPr>
              <a:t> od </a:t>
            </a:r>
            <a:r>
              <a:rPr lang="en-US" b="1" dirty="0" err="1">
                <a:ea typeface="+mn-lt"/>
                <a:cs typeface="+mn-lt"/>
              </a:rPr>
              <a:t>sytuacji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grze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/>
          </a:p>
          <a:p>
            <a:r>
              <a:rPr lang="en-US" b="1" dirty="0" err="1">
                <a:ea typeface="+mn-lt"/>
                <a:cs typeface="+mn-lt"/>
              </a:rPr>
              <a:t>Samouczek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wprowadzenie</a:t>
            </a:r>
            <a:r>
              <a:rPr lang="en-US" b="1" dirty="0">
                <a:ea typeface="+mn-lt"/>
                <a:cs typeface="+mn-lt"/>
              </a:rPr>
              <a:t> do </a:t>
            </a:r>
            <a:r>
              <a:rPr lang="en-US" b="1" dirty="0" err="1">
                <a:ea typeface="+mn-lt"/>
                <a:cs typeface="+mn-lt"/>
              </a:rPr>
              <a:t>gry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łagodne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wprowadzenie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nowych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graczy</a:t>
            </a:r>
            <a:r>
              <a:rPr lang="en-US" b="1" dirty="0">
                <a:ea typeface="+mn-lt"/>
                <a:cs typeface="+mn-lt"/>
              </a:rPr>
              <a:t> w </a:t>
            </a:r>
            <a:r>
              <a:rPr lang="en-US" b="1" dirty="0" err="1">
                <a:ea typeface="+mn-lt"/>
                <a:cs typeface="+mn-lt"/>
              </a:rPr>
              <a:t>mechaniki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Ranking </a:t>
            </a:r>
            <a:r>
              <a:rPr lang="en-US" b="1" dirty="0" err="1">
                <a:ea typeface="+mn-lt"/>
                <a:cs typeface="+mn-lt"/>
              </a:rPr>
              <a:t>graczy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b="1" dirty="0" err="1">
                <a:ea typeface="+mn-lt"/>
                <a:cs typeface="+mn-lt"/>
              </a:rPr>
              <a:t>porównywanie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wyników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rywalizacja</a:t>
            </a:r>
            <a:r>
              <a:rPr lang="en-US" b="1" dirty="0">
                <a:ea typeface="+mn-lt"/>
                <a:cs typeface="+mn-lt"/>
              </a:rPr>
              <a:t> o </a:t>
            </a:r>
            <a:r>
              <a:rPr lang="en-US" b="1" dirty="0" err="1">
                <a:ea typeface="+mn-lt"/>
                <a:cs typeface="+mn-lt"/>
              </a:rPr>
              <a:t>najlepszą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pozycję</a:t>
            </a:r>
            <a:r>
              <a:rPr lang="en-US" b="1" dirty="0">
                <a:ea typeface="+mn-lt"/>
                <a:cs typeface="+mn-lt"/>
              </a:rPr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2382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38480"/>
            <a:ext cx="7731038" cy="334676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 err="1">
                <a:ea typeface="+mj-lt"/>
                <a:cs typeface="+mj-lt"/>
              </a:rPr>
              <a:t>Funkcjonalności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 </a:t>
            </a:r>
            <a:r>
              <a:rPr lang="en-US" dirty="0" err="1">
                <a:solidFill>
                  <a:srgbClr val="003A41"/>
                </a:solidFill>
                <a:ea typeface="+mj-lt"/>
                <a:cs typeface="+mj-lt"/>
              </a:rPr>
              <a:t>opcjonalne</a:t>
            </a:r>
            <a:r>
              <a:rPr lang="en-US" dirty="0">
                <a:solidFill>
                  <a:srgbClr val="003A41"/>
                </a:solidFill>
                <a:ea typeface="+mj-lt"/>
                <a:cs typeface="+mj-lt"/>
              </a:rPr>
              <a:t>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E18F-CF72-C06C-3020-B9FA4DEAB7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762566"/>
            <a:ext cx="9318330" cy="111347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Osiągnięcia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kolekcjonerskie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nagrody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dodatkowa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motywacja</a:t>
            </a:r>
            <a:r>
              <a:rPr lang="en-US" dirty="0">
                <a:ea typeface="+mj-lt"/>
                <a:cs typeface="+mj-lt"/>
              </a:rPr>
              <a:t> do </a:t>
            </a:r>
            <a:r>
              <a:rPr lang="en-US" dirty="0" err="1">
                <a:ea typeface="+mj-lt"/>
                <a:cs typeface="+mj-lt"/>
              </a:rPr>
              <a:t>eksplorowania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gry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Personalizacja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wyglądu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kosmetyczne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dostosowanie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postaci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lub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otoczenia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Wybór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postaci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lub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stylu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gry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różne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warianty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rozpoczęcia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rozgrywki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Miejsca</a:t>
            </a:r>
            <a:r>
              <a:rPr lang="en-US" dirty="0">
                <a:ea typeface="+mj-lt"/>
                <a:cs typeface="+mj-lt"/>
              </a:rPr>
              <a:t> z </a:t>
            </a:r>
            <a:r>
              <a:rPr lang="en-US" dirty="0" err="1">
                <a:ea typeface="+mj-lt"/>
                <a:cs typeface="+mj-lt"/>
              </a:rPr>
              <a:t>przedmiotami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jedzeniem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dodatkami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które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wspierają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przetrwanie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zjazdu</a:t>
            </a:r>
            <a:r>
              <a:rPr lang="en-US" dirty="0">
                <a:ea typeface="+mj-lt"/>
                <a:cs typeface="+mj-lt"/>
              </a:rPr>
              <a:t>, </a:t>
            </a:r>
            <a:r>
              <a:rPr lang="en-US" dirty="0" err="1">
                <a:ea typeface="+mj-lt"/>
                <a:cs typeface="+mj-lt"/>
              </a:rPr>
              <a:t>podane</a:t>
            </a:r>
            <a:r>
              <a:rPr lang="en-US" dirty="0">
                <a:ea typeface="+mj-lt"/>
                <a:cs typeface="+mj-lt"/>
              </a:rPr>
              <a:t> w </a:t>
            </a:r>
            <a:r>
              <a:rPr lang="en-US" dirty="0" err="1">
                <a:ea typeface="+mj-lt"/>
                <a:cs typeface="+mj-lt"/>
              </a:rPr>
              <a:t>humorystycznej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formie</a:t>
            </a:r>
            <a:r>
              <a:rPr lang="en-US" dirty="0">
                <a:ea typeface="+mj-lt"/>
                <a:cs typeface="+mj-lt"/>
              </a:rPr>
              <a:t> (np. </a:t>
            </a:r>
            <a:r>
              <a:rPr lang="en-US" dirty="0" err="1">
                <a:ea typeface="+mj-lt"/>
                <a:cs typeface="+mj-lt"/>
              </a:rPr>
              <a:t>strefa</a:t>
            </a:r>
            <a:r>
              <a:rPr lang="en-US" dirty="0">
                <a:ea typeface="+mj-lt"/>
                <a:cs typeface="+mj-lt"/>
              </a:rPr>
              <a:t> chill).</a:t>
            </a:r>
            <a:endParaRPr lang="en-US"/>
          </a:p>
          <a:p>
            <a:pPr marL="342900" indent="-342900">
              <a:buChar char="•"/>
            </a:pPr>
            <a:r>
              <a:rPr lang="en-US" dirty="0" err="1">
                <a:ea typeface="+mj-lt"/>
                <a:cs typeface="+mj-lt"/>
              </a:rPr>
              <a:t>Tryb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treningowy</a:t>
            </a:r>
            <a:r>
              <a:rPr lang="en-US" dirty="0">
                <a:ea typeface="+mj-lt"/>
                <a:cs typeface="+mj-lt"/>
              </a:rPr>
              <a:t> bez </a:t>
            </a:r>
            <a:r>
              <a:rPr lang="en-US" dirty="0" err="1">
                <a:ea typeface="+mj-lt"/>
                <a:cs typeface="+mj-lt"/>
              </a:rPr>
              <a:t>rankingu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czasu</a:t>
            </a:r>
            <a:r>
              <a:rPr lang="en-US" dirty="0">
                <a:ea typeface="+mj-lt"/>
                <a:cs typeface="+mj-lt"/>
              </a:rPr>
              <a:t>: </a:t>
            </a:r>
            <a:r>
              <a:rPr lang="en-US" dirty="0" err="1">
                <a:ea typeface="+mj-lt"/>
                <a:cs typeface="+mj-lt"/>
              </a:rPr>
              <a:t>swobodna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rozgrywka</a:t>
            </a:r>
            <a:r>
              <a:rPr lang="en-US" dirty="0">
                <a:ea typeface="+mj-lt"/>
                <a:cs typeface="+mj-lt"/>
              </a:rPr>
              <a:t> do </a:t>
            </a:r>
            <a:r>
              <a:rPr lang="en-US" dirty="0" err="1">
                <a:ea typeface="+mj-lt"/>
                <a:cs typeface="+mj-lt"/>
              </a:rPr>
              <a:t>nauki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mechanik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testowania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strategii</a:t>
            </a:r>
            <a:r>
              <a:rPr lang="en-US" dirty="0">
                <a:ea typeface="+mj-lt"/>
                <a:cs typeface="+mj-lt"/>
              </a:rPr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A87EA-8BB3-79C6-656A-1A8ABD658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55" y="1011935"/>
            <a:ext cx="10963269" cy="1112153"/>
          </a:xfrm>
        </p:spPr>
        <p:txBody>
          <a:bodyPr/>
          <a:lstStyle/>
          <a:p>
            <a:r>
              <a:rPr lang="en-US"/>
              <a:t>PROPONOWANE TECHNOLOGIE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DF94A-DA27-1E29-408E-F5360E814FB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2461" y="2274809"/>
            <a:ext cx="8343848" cy="3726809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Unity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silnik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gry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C#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język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programowania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Git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kontrola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wersji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Aseprite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- </a:t>
            </a:r>
            <a:r>
              <a:rPr lang="en-US" sz="2400" b="1" err="1">
                <a:solidFill>
                  <a:srgbClr val="FFFFFF"/>
                </a:solidFill>
                <a:ea typeface="+mn-lt"/>
                <a:cs typeface="+mn-lt"/>
              </a:rPr>
              <a:t>przygotowanie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grafiki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[] - 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dźwięk</a:t>
            </a:r>
            <a:endParaRPr lang="en-US" sz="2400" b="1"/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GitHub Projects - </a:t>
            </a:r>
            <a:r>
              <a:rPr lang="en-US" sz="2400" b="1" dirty="0" err="1">
                <a:solidFill>
                  <a:srgbClr val="FFFFFF"/>
                </a:solidFill>
                <a:ea typeface="+mn-lt"/>
                <a:cs typeface="+mn-lt"/>
              </a:rPr>
              <a:t>zarządzanie</a:t>
            </a:r>
            <a:r>
              <a:rPr lang="en-US" sz="2400" b="1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a typeface="+mn-lt"/>
                <a:cs typeface="+mn-lt"/>
              </a:rPr>
              <a:t>zadaniami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272732094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236</Words>
  <Application>Microsoft Office PowerPoint</Application>
  <PresentationFormat>Widescreen</PresentationFormat>
  <Paragraphs>37</Paragraphs>
  <Slides>10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BoldUnderlinesKeynote</vt:lpstr>
      <vt:lpstr>Gra komputerowa The Zjazd</vt:lpstr>
      <vt:lpstr>Skład Grupy</vt:lpstr>
      <vt:lpstr>Wycinek rzeczywistoŚCi </vt:lpstr>
      <vt:lpstr>PowerPoint Presentation</vt:lpstr>
      <vt:lpstr>PowerPoint Presentation</vt:lpstr>
      <vt:lpstr>Cechy zamawianego produktu</vt:lpstr>
      <vt:lpstr>Funkcjonalności główne: </vt:lpstr>
      <vt:lpstr>Funkcjonalności dodatkowe: </vt:lpstr>
      <vt:lpstr>Funkcjonalności opcjonalne:</vt:lpstr>
      <vt:lpstr>PROPONOWANE TECHNOLOGIE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358</cp:revision>
  <dcterms:created xsi:type="dcterms:W3CDTF">2026-10-09T18:22:28Z</dcterms:created>
  <dcterms:modified xsi:type="dcterms:W3CDTF">2026-10-09T20:28:39Z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